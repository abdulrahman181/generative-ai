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Open Sans" charset="-122" pitchFamily="34"/>
      <p:regular r:id="rId19"/>
    </p:embeddedFont>
    <p:embeddedFont>
      <p:font typeface="Roboto" charset="-122" pitchFamily="34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-top"/>
          <p:cNvSpPr/>
          <p:nvPr/>
        </p:nvSpPr>
        <p:spPr>
          <a:xfrm>
            <a:off x="711200" y="914400"/>
            <a:ext cx="2286000" cy="9144"/>
          </a:xfrm>
          <a:prstGeom prst="line">
            <a:avLst/>
          </a:prstGeom>
          <a:ln w="38100">
            <a:solidFill>
              <a:srgbClr val="77E0C3"/>
            </a:solidFill>
            <a:prstDash val="solid"/>
          </a:ln>
        </p:spPr>
      </p:sp>
      <p:sp>
        <p:nvSpPr>
          <p:cNvPr id="3" name="cover-accent-side"/>
          <p:cNvSpPr/>
          <p:nvPr/>
        </p:nvSpPr>
        <p:spPr>
          <a:xfrm>
            <a:off x="711200" y="1117600"/>
            <a:ext cx="9144" cy="914400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4" name="cover-kicker"/>
          <p:cNvSpPr/>
          <p:nvPr/>
        </p:nvSpPr>
        <p:spPr>
          <a:xfrm>
            <a:off x="711200" y="6096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 PROJECT / AI CAREER PLATFORM</a:t>
            </a:r>
            <a:endParaRPr lang="en-US" sz="1400" dirty="0"/>
          </a:p>
        </p:txBody>
      </p:sp>
      <p:sp>
        <p:nvSpPr>
          <p:cNvPr id="5" name="cover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/ 12</a:t>
            </a:r>
            <a:endParaRPr lang="en-US" sz="1400" dirty="0"/>
          </a:p>
        </p:txBody>
      </p:sp>
      <p:sp>
        <p:nvSpPr>
          <p:cNvPr id="6" name="cover-title"/>
          <p:cNvSpPr/>
          <p:nvPr/>
        </p:nvSpPr>
        <p:spPr>
          <a:xfrm>
            <a:off x="711200" y="1955800"/>
            <a:ext cx="7874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28"/>
              </a:lnSpc>
              <a:buNone/>
            </a:pPr>
            <a:r>
              <a:rPr lang="en-US" altLang="en-US" sz="6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Resume</a:t>
            </a:r>
            <a:endParaRPr lang="en-US" sz="6400" dirty="0"/>
          </a:p>
          <a:p>
            <a:pPr algn="l" indent="0" marL="0">
              <a:lnSpc>
                <a:spcPts val="6528"/>
              </a:lnSpc>
              <a:buNone/>
            </a:pPr>
            <a:r>
              <a:rPr lang="en-US" altLang="en-US" sz="6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Analyzer</a:t>
            </a:r>
            <a:endParaRPr lang="en-US" sz="6400" dirty="0"/>
          </a:p>
        </p:txBody>
      </p:sp>
      <p:sp>
        <p:nvSpPr>
          <p:cNvPr id="7" name="cover-subtitle"/>
          <p:cNvSpPr/>
          <p:nvPr/>
        </p:nvSpPr>
        <p:spPr>
          <a:xfrm>
            <a:off x="711200" y="4241800"/>
            <a:ext cx="711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altLang="en-US" sz="22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an evidence-grounded CV analysis and job matching platform.</a:t>
            </a:r>
            <a:endParaRPr lang="en-US" sz="2200" dirty="0"/>
          </a:p>
        </p:txBody>
      </p:sp>
      <p:sp>
        <p:nvSpPr>
          <p:cNvPr id="8" name="cover-description"/>
          <p:cNvSpPr/>
          <p:nvPr/>
        </p:nvSpPr>
        <p:spPr>
          <a:xfrm>
            <a:off x="711200" y="5461000"/>
            <a:ext cx="7112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repaired workflow turns one uploaded CV into structured evidence, clear coaching, reliable next actions, and controlled CV-to-job comparison.</a:t>
            </a:r>
            <a:endParaRPr lang="en-US" sz="1800" dirty="0"/>
          </a:p>
        </p:txBody>
      </p:sp>
      <p:sp>
        <p:nvSpPr>
          <p:cNvPr id="9" name="cover-stack"/>
          <p:cNvSpPr/>
          <p:nvPr/>
        </p:nvSpPr>
        <p:spPr>
          <a:xfrm>
            <a:off x="711200" y="7188200"/>
            <a:ext cx="914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 •  SQLite  •  Vanilla JavaScript  •  Deterministic Matching  •  Local RAG</a:t>
            </a:r>
            <a:endParaRPr lang="en-US" sz="1500" dirty="0"/>
          </a:p>
        </p:txBody>
      </p:sp>
      <p:sp>
        <p:nvSpPr>
          <p:cNvPr id="10" name="cover-grid-v1"/>
          <p:cNvSpPr/>
          <p:nvPr/>
        </p:nvSpPr>
        <p:spPr>
          <a:xfrm>
            <a:off x="11531600" y="1879600"/>
            <a:ext cx="9144" cy="4318000"/>
          </a:xfrm>
          <a:prstGeom prst="line">
            <a:avLst/>
          </a:prstGeom>
          <a:ln w="12700">
            <a:solidFill>
              <a:srgbClr val="112542"/>
            </a:solidFill>
            <a:prstDash val="solid"/>
          </a:ln>
        </p:spPr>
      </p:sp>
      <p:sp>
        <p:nvSpPr>
          <p:cNvPr id="11" name="cover-grid-v2"/>
          <p:cNvSpPr/>
          <p:nvPr/>
        </p:nvSpPr>
        <p:spPr>
          <a:xfrm>
            <a:off x="13284200" y="1879600"/>
            <a:ext cx="9144" cy="4318000"/>
          </a:xfrm>
          <a:prstGeom prst="line">
            <a:avLst/>
          </a:prstGeom>
          <a:ln w="12700">
            <a:solidFill>
              <a:srgbClr val="112542"/>
            </a:solidFill>
            <a:prstDash val="solid"/>
          </a:ln>
        </p:spPr>
      </p:sp>
      <p:sp>
        <p:nvSpPr>
          <p:cNvPr id="12" name="cover-grid-h1"/>
          <p:cNvSpPr/>
          <p:nvPr/>
        </p:nvSpPr>
        <p:spPr>
          <a:xfrm>
            <a:off x="9779000" y="3314700"/>
            <a:ext cx="5257800" cy="9144"/>
          </a:xfrm>
          <a:prstGeom prst="line">
            <a:avLst/>
          </a:prstGeom>
          <a:ln w="12700">
            <a:solidFill>
              <a:srgbClr val="112542"/>
            </a:solidFill>
            <a:prstDash val="solid"/>
          </a:ln>
        </p:spPr>
      </p:sp>
      <p:sp>
        <p:nvSpPr>
          <p:cNvPr id="13" name="cover-grid-h2"/>
          <p:cNvSpPr/>
          <p:nvPr/>
        </p:nvSpPr>
        <p:spPr>
          <a:xfrm>
            <a:off x="9779000" y="4749800"/>
            <a:ext cx="5257800" cy="9144"/>
          </a:xfrm>
          <a:prstGeom prst="line">
            <a:avLst/>
          </a:prstGeom>
          <a:ln w="12700">
            <a:solidFill>
              <a:srgbClr val="112542"/>
            </a:solidFill>
            <a:prstDash val="solid"/>
          </a:ln>
        </p:spPr>
      </p:sp>
      <p:sp>
        <p:nvSpPr>
          <p:cNvPr id="14" name="cover-grid-mint"/>
          <p:cNvSpPr/>
          <p:nvPr/>
        </p:nvSpPr>
        <p:spPr>
          <a:xfrm>
            <a:off x="11887200" y="2590800"/>
            <a:ext cx="1041400" cy="1041400"/>
          </a:xfrm>
          <a:prstGeom prst="rect">
            <a:avLst/>
          </a:prstGeom>
          <a:solidFill>
            <a:srgbClr val="77E0C3">
              <a:alpha val="80000"/>
            </a:srgbClr>
          </a:solidFill>
          <a:ln/>
        </p:spPr>
      </p:sp>
      <p:sp>
        <p:nvSpPr>
          <p:cNvPr id="15" name="cover-grid-blue"/>
          <p:cNvSpPr/>
          <p:nvPr/>
        </p:nvSpPr>
        <p:spPr>
          <a:xfrm>
            <a:off x="13614400" y="4025900"/>
            <a:ext cx="812800" cy="812800"/>
          </a:xfrm>
          <a:prstGeom prst="rect">
            <a:avLst/>
          </a:prstGeom>
          <a:solidFill>
            <a:srgbClr val="36A3FF">
              <a:alpha val="80000"/>
            </a:srgbClr>
          </a:solidFill>
          <a:ln/>
        </p:spPr>
      </p:sp>
      <p:sp>
        <p:nvSpPr>
          <p:cNvPr id="16" name="cover-bottom-rule"/>
          <p:cNvSpPr/>
          <p:nvPr/>
        </p:nvSpPr>
        <p:spPr>
          <a:xfrm>
            <a:off x="711200" y="8153400"/>
            <a:ext cx="14833600" cy="9144"/>
          </a:xfrm>
          <a:prstGeom prst="line">
            <a:avLst/>
          </a:prstGeom>
          <a:ln w="25400">
            <a:solidFill>
              <a:srgbClr val="112542"/>
            </a:solidFill>
            <a:prstDash val="solid"/>
          </a:ln>
        </p:spPr>
      </p:sp>
      <p:sp>
        <p:nvSpPr>
          <p:cNvPr id="17" name="cover-credit"/>
          <p:cNvSpPr/>
          <p:nvPr/>
        </p:nvSpPr>
        <p:spPr>
          <a:xfrm>
            <a:off x="711200" y="8382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and implemented by the project owner and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lem-kicker"/>
          <p:cNvSpPr/>
          <p:nvPr/>
        </p:nvSpPr>
        <p:spPr>
          <a:xfrm>
            <a:off x="711200" y="6096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 BUILT IT</a:t>
            </a:r>
            <a:endParaRPr lang="en-US" sz="1400" dirty="0"/>
          </a:p>
        </p:txBody>
      </p:sp>
      <p:sp>
        <p:nvSpPr>
          <p:cNvPr id="3" name="problem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/ 12</a:t>
            </a:r>
            <a:endParaRPr lang="en-US" sz="1400" dirty="0"/>
          </a:p>
        </p:txBody>
      </p:sp>
      <p:sp>
        <p:nvSpPr>
          <p:cNvPr id="4" name="problem-title"/>
          <p:cNvSpPr/>
          <p:nvPr/>
        </p:nvSpPr>
        <p:spPr>
          <a:xfrm>
            <a:off x="711200" y="10922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altLang="en-US" sz="36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Problem I Wanted</a:t>
            </a:r>
            <a:endParaRPr lang="en-US" sz="36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altLang="en-US" sz="36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Solve</a:t>
            </a:r>
            <a:endParaRPr lang="en-US" sz="3600" dirty="0"/>
          </a:p>
        </p:txBody>
      </p:sp>
      <p:sp>
        <p:nvSpPr>
          <p:cNvPr id="5" name="problem-intro"/>
          <p:cNvSpPr/>
          <p:nvPr/>
        </p:nvSpPr>
        <p:spPr>
          <a:xfrm>
            <a:off x="8255000" y="1193800"/>
            <a:ext cx="7289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CV tools stop at keyword counting. I wanted to turn analysis into evidence-based decisions, context-safe coaching, and practical next actions.</a:t>
            </a:r>
            <a:endParaRPr lang="en-US" sz="1700" dirty="0"/>
          </a:p>
        </p:txBody>
      </p:sp>
      <p:sp>
        <p:nvSpPr>
          <p:cNvPr id="6" name="problem-rule"/>
          <p:cNvSpPr/>
          <p:nvPr/>
        </p:nvSpPr>
        <p:spPr>
          <a:xfrm>
            <a:off x="711200" y="23368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7" name="problem-rule-1"/>
          <p:cNvSpPr/>
          <p:nvPr/>
        </p:nvSpPr>
        <p:spPr>
          <a:xfrm>
            <a:off x="711200" y="2717800"/>
            <a:ext cx="3429000" cy="9144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8" name="problem-rule-2"/>
          <p:cNvSpPr/>
          <p:nvPr/>
        </p:nvSpPr>
        <p:spPr>
          <a:xfrm>
            <a:off x="4445000" y="2717800"/>
            <a:ext cx="3429000" cy="9144"/>
          </a:xfrm>
          <a:prstGeom prst="line">
            <a:avLst/>
          </a:prstGeom>
          <a:ln w="50800">
            <a:solidFill>
              <a:srgbClr val="36A3FF"/>
            </a:solidFill>
            <a:prstDash val="solid"/>
          </a:ln>
        </p:spPr>
      </p:sp>
      <p:sp>
        <p:nvSpPr>
          <p:cNvPr id="9" name="problem-rule-3"/>
          <p:cNvSpPr/>
          <p:nvPr/>
        </p:nvSpPr>
        <p:spPr>
          <a:xfrm>
            <a:off x="8178800" y="2717800"/>
            <a:ext cx="3429000" cy="9144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10" name="problem-rule-4"/>
          <p:cNvSpPr/>
          <p:nvPr/>
        </p:nvSpPr>
        <p:spPr>
          <a:xfrm>
            <a:off x="11912600" y="2717800"/>
            <a:ext cx="3429000" cy="9144"/>
          </a:xfrm>
          <a:prstGeom prst="line">
            <a:avLst/>
          </a:prstGeom>
          <a:ln w="50800">
            <a:solidFill>
              <a:srgbClr val="36A3FF"/>
            </a:solidFill>
            <a:prstDash val="solid"/>
          </a:ln>
        </p:spPr>
      </p:sp>
      <p:sp>
        <p:nvSpPr>
          <p:cNvPr id="11" name="problem-01"/>
          <p:cNvSpPr/>
          <p:nvPr/>
        </p:nvSpPr>
        <p:spPr>
          <a:xfrm>
            <a:off x="711200" y="2921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77E0C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problem-h-01"/>
          <p:cNvSpPr/>
          <p:nvPr/>
        </p:nvSpPr>
        <p:spPr>
          <a:xfrm>
            <a:off x="711200" y="34290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altLang="en-US" sz="22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score without direction</a:t>
            </a:r>
            <a:endParaRPr lang="en-US" sz="2200" dirty="0"/>
          </a:p>
        </p:txBody>
      </p:sp>
      <p:sp>
        <p:nvSpPr>
          <p:cNvPr id="13" name="problem-b-01"/>
          <p:cNvSpPr/>
          <p:nvPr/>
        </p:nvSpPr>
        <p:spPr>
          <a:xfrm>
            <a:off x="711200" y="4343400"/>
            <a:ext cx="3429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number can tell a candidate where they stand, but not what to rewrite first or why it matters.</a:t>
            </a:r>
            <a:endParaRPr lang="en-US" sz="1600" dirty="0"/>
          </a:p>
        </p:txBody>
      </p:sp>
      <p:sp>
        <p:nvSpPr>
          <p:cNvPr id="14" name="problem-02"/>
          <p:cNvSpPr/>
          <p:nvPr/>
        </p:nvSpPr>
        <p:spPr>
          <a:xfrm>
            <a:off x="4445000" y="2921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6A3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problem-h-02"/>
          <p:cNvSpPr/>
          <p:nvPr/>
        </p:nvSpPr>
        <p:spPr>
          <a:xfrm>
            <a:off x="4445000" y="34290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altLang="en-US" sz="22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Advice without evidence</a:t>
            </a:r>
            <a:endParaRPr lang="en-US" sz="2200" dirty="0"/>
          </a:p>
        </p:txBody>
      </p:sp>
      <p:sp>
        <p:nvSpPr>
          <p:cNvPr id="16" name="problem-b-02"/>
          <p:cNvSpPr/>
          <p:nvPr/>
        </p:nvSpPr>
        <p:spPr>
          <a:xfrm>
            <a:off x="4445000" y="4343400"/>
            <a:ext cx="3429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 recommendations are easy to generate and difficult to trust when they are not grounded in the actual CV.</a:t>
            </a:r>
            <a:endParaRPr lang="en-US" sz="1600" dirty="0"/>
          </a:p>
        </p:txBody>
      </p:sp>
      <p:sp>
        <p:nvSpPr>
          <p:cNvPr id="17" name="problem-03"/>
          <p:cNvSpPr/>
          <p:nvPr/>
        </p:nvSpPr>
        <p:spPr>
          <a:xfrm>
            <a:off x="8178800" y="2921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77E0C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problem-h-03"/>
          <p:cNvSpPr/>
          <p:nvPr/>
        </p:nvSpPr>
        <p:spPr>
          <a:xfrm>
            <a:off x="8178800" y="34290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altLang="en-US" sz="22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can get mixed</a:t>
            </a:r>
            <a:endParaRPr lang="en-US" sz="2200" dirty="0"/>
          </a:p>
        </p:txBody>
      </p:sp>
      <p:sp>
        <p:nvSpPr>
          <p:cNvPr id="19" name="problem-b-03"/>
          <p:cNvSpPr/>
          <p:nvPr/>
        </p:nvSpPr>
        <p:spPr>
          <a:xfrm>
            <a:off x="8178800" y="4343400"/>
            <a:ext cx="3429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Switching between CVs and jobs can create stale results or the wrong comparison unless identity is enforced.</a:t>
            </a:r>
            <a:endParaRPr lang="en-US" sz="1600" dirty="0"/>
          </a:p>
        </p:txBody>
      </p:sp>
      <p:sp>
        <p:nvSpPr>
          <p:cNvPr id="20" name="problem-04"/>
          <p:cNvSpPr/>
          <p:nvPr/>
        </p:nvSpPr>
        <p:spPr>
          <a:xfrm>
            <a:off x="11912600" y="2921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6A3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problem-h-04"/>
          <p:cNvSpPr/>
          <p:nvPr/>
        </p:nvSpPr>
        <p:spPr>
          <a:xfrm>
            <a:off x="11912600" y="34290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altLang="en-US" sz="22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 looks like a broken app</a:t>
            </a:r>
            <a:endParaRPr lang="en-US" sz="2200" dirty="0"/>
          </a:p>
        </p:txBody>
      </p:sp>
      <p:sp>
        <p:nvSpPr>
          <p:cNvPr id="22" name="problem-b-04"/>
          <p:cNvSpPr/>
          <p:nvPr/>
        </p:nvSpPr>
        <p:spPr>
          <a:xfrm>
            <a:off x="11912600" y="4343400"/>
            <a:ext cx="3429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unavailable model, malformed upload, or invalid response should not make a simple improvement action unusable.</a:t>
            </a:r>
            <a:endParaRPr lang="en-US" sz="1600" dirty="0"/>
          </a:p>
        </p:txBody>
      </p:sp>
      <p:sp>
        <p:nvSpPr>
          <p:cNvPr id="23" name="problem-bottom-rule"/>
          <p:cNvSpPr/>
          <p:nvPr/>
        </p:nvSpPr>
        <p:spPr>
          <a:xfrm>
            <a:off x="711200" y="7518400"/>
            <a:ext cx="14833600" cy="9144"/>
          </a:xfrm>
          <a:prstGeom prst="line">
            <a:avLst/>
          </a:prstGeom>
          <a:ln w="25400">
            <a:solidFill>
              <a:srgbClr val="E8F0F8"/>
            </a:solidFill>
            <a:prstDash val="solid"/>
          </a:ln>
        </p:spPr>
      </p:sp>
      <p:sp>
        <p:nvSpPr>
          <p:cNvPr id="24" name="problem-response-label"/>
          <p:cNvSpPr/>
          <p:nvPr/>
        </p:nvSpPr>
        <p:spPr>
          <a:xfrm>
            <a:off x="711200" y="7874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 DESIGN RESPONSE</a:t>
            </a:r>
            <a:endParaRPr lang="en-US" sz="1400" dirty="0"/>
          </a:p>
        </p:txBody>
      </p:sp>
      <p:sp>
        <p:nvSpPr>
          <p:cNvPr id="25" name="problem-response"/>
          <p:cNvSpPr/>
          <p:nvPr/>
        </p:nvSpPr>
        <p:spPr>
          <a:xfrm>
            <a:off x="3175000" y="7823200"/>
            <a:ext cx="12369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Evidence, isolation, and graceful fallback at every step.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ive-kicker"/>
          <p:cNvSpPr/>
          <p:nvPr/>
        </p:nvSpPr>
        <p:spPr>
          <a:xfrm>
            <a:off x="711200" y="6096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PRINCIPLE</a:t>
            </a:r>
            <a:endParaRPr lang="en-US" sz="1400" dirty="0"/>
          </a:p>
        </p:txBody>
      </p:sp>
      <p:sp>
        <p:nvSpPr>
          <p:cNvPr id="3" name="objective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/ 12</a:t>
            </a:r>
            <a:endParaRPr lang="en-US" sz="1400" dirty="0"/>
          </a:p>
        </p:txBody>
      </p:sp>
      <p:sp>
        <p:nvSpPr>
          <p:cNvPr id="4" name="objective-title"/>
          <p:cNvSpPr/>
          <p:nvPr/>
        </p:nvSpPr>
        <p:spPr>
          <a:xfrm>
            <a:off x="711200" y="1168400"/>
            <a:ext cx="787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 Project Objective</a:t>
            </a:r>
            <a:endParaRPr lang="en-US" sz="3600" dirty="0"/>
          </a:p>
        </p:txBody>
      </p:sp>
      <p:sp>
        <p:nvSpPr>
          <p:cNvPr id="5" name="objective-rule"/>
          <p:cNvSpPr/>
          <p:nvPr/>
        </p:nvSpPr>
        <p:spPr>
          <a:xfrm>
            <a:off x="711200" y="20828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6" name="objective-quote-band"/>
          <p:cNvSpPr/>
          <p:nvPr/>
        </p:nvSpPr>
        <p:spPr>
          <a:xfrm>
            <a:off x="711200" y="2463800"/>
            <a:ext cx="14833600" cy="914400"/>
          </a:xfrm>
          <a:prstGeom prst="rect">
            <a:avLst/>
          </a:prstGeom>
          <a:solidFill>
            <a:srgbClr val="E6EEF6"/>
          </a:solidFill>
          <a:ln/>
        </p:spPr>
      </p:sp>
      <p:sp>
        <p:nvSpPr>
          <p:cNvPr id="7" name="objective-quote-rule"/>
          <p:cNvSpPr/>
          <p:nvPr/>
        </p:nvSpPr>
        <p:spPr>
          <a:xfrm>
            <a:off x="939800" y="2667000"/>
            <a:ext cx="9144" cy="508000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8" name="objective-quote"/>
          <p:cNvSpPr/>
          <p:nvPr/>
        </p:nvSpPr>
        <p:spPr>
          <a:xfrm>
            <a:off x="1270000" y="2679700"/>
            <a:ext cx="1384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i="1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“Every recommendation must be useful, traceable to evidence, and tied to the exact context selected by the user.”</a:t>
            </a:r>
            <a:endParaRPr lang="en-US" sz="2000" dirty="0"/>
          </a:p>
        </p:txBody>
      </p:sp>
      <p:sp>
        <p:nvSpPr>
          <p:cNvPr id="9" name="objective-col-left"/>
          <p:cNvSpPr/>
          <p:nvPr/>
        </p:nvSpPr>
        <p:spPr>
          <a:xfrm>
            <a:off x="711200" y="38354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</a:t>
            </a:r>
            <a:endParaRPr lang="en-US" sz="1400" dirty="0"/>
          </a:p>
        </p:txBody>
      </p:sp>
      <p:sp>
        <p:nvSpPr>
          <p:cNvPr id="10" name="objective-col-right"/>
          <p:cNvSpPr/>
          <p:nvPr/>
        </p:nvSpPr>
        <p:spPr>
          <a:xfrm>
            <a:off x="4953000" y="3835400"/>
            <a:ext cx="1016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THE USER GETS</a:t>
            </a:r>
            <a:endParaRPr lang="en-US" sz="1400" dirty="0"/>
          </a:p>
        </p:txBody>
      </p:sp>
      <p:sp>
        <p:nvSpPr>
          <p:cNvPr id="11" name="objective-grid-rule"/>
          <p:cNvSpPr/>
          <p:nvPr/>
        </p:nvSpPr>
        <p:spPr>
          <a:xfrm>
            <a:off x="711200" y="4216400"/>
            <a:ext cx="14833600" cy="9144"/>
          </a:xfrm>
          <a:prstGeom prst="line">
            <a:avLst/>
          </a:prstGeom>
          <a:ln w="25400">
            <a:solidFill>
              <a:srgbClr val="E8F0F8"/>
            </a:solidFill>
            <a:prstDash val="solid"/>
          </a:ln>
        </p:spPr>
      </p:sp>
      <p:sp>
        <p:nvSpPr>
          <p:cNvPr id="12" name="objective-row1-label"/>
          <p:cNvSpPr/>
          <p:nvPr/>
        </p:nvSpPr>
        <p:spPr>
          <a:xfrm>
            <a:off x="711200" y="44450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the CV</a:t>
            </a:r>
            <a:endParaRPr lang="en-US" sz="1800" dirty="0"/>
          </a:p>
        </p:txBody>
      </p:sp>
      <p:sp>
        <p:nvSpPr>
          <p:cNvPr id="13" name="objective-row1-text"/>
          <p:cNvSpPr/>
          <p:nvPr/>
        </p:nvSpPr>
        <p:spPr>
          <a:xfrm>
            <a:off x="4953000" y="4394200"/>
            <a:ext cx="1016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extraction, score, strengths, and weaknesses.</a:t>
            </a:r>
            <a:endParaRPr lang="en-US" sz="1700" dirty="0"/>
          </a:p>
        </p:txBody>
      </p:sp>
      <p:sp>
        <p:nvSpPr>
          <p:cNvPr id="14" name="objective-row1-rule"/>
          <p:cNvSpPr/>
          <p:nvPr/>
        </p:nvSpPr>
        <p:spPr>
          <a:xfrm>
            <a:off x="711200" y="4978400"/>
            <a:ext cx="14833600" cy="9144"/>
          </a:xfrm>
          <a:prstGeom prst="line">
            <a:avLst/>
          </a:prstGeom>
          <a:ln w="12700">
            <a:solidFill>
              <a:srgbClr val="E8F0F8"/>
            </a:solidFill>
            <a:prstDash val="solid"/>
          </a:ln>
        </p:spPr>
      </p:sp>
      <p:sp>
        <p:nvSpPr>
          <p:cNvPr id="15" name="objective-row2-label"/>
          <p:cNvSpPr/>
          <p:nvPr/>
        </p:nvSpPr>
        <p:spPr>
          <a:xfrm>
            <a:off x="711200" y="52578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the CV</a:t>
            </a:r>
            <a:endParaRPr lang="en-US" sz="1800" dirty="0"/>
          </a:p>
        </p:txBody>
      </p:sp>
      <p:sp>
        <p:nvSpPr>
          <p:cNvPr id="16" name="objective-row2-text"/>
          <p:cNvSpPr/>
          <p:nvPr/>
        </p:nvSpPr>
        <p:spPr>
          <a:xfrm>
            <a:off x="4953000" y="5207000"/>
            <a:ext cx="1016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coaching that works without a selected job.</a:t>
            </a:r>
            <a:endParaRPr lang="en-US" sz="1700" dirty="0"/>
          </a:p>
        </p:txBody>
      </p:sp>
      <p:sp>
        <p:nvSpPr>
          <p:cNvPr id="17" name="objective-row2-rule"/>
          <p:cNvSpPr/>
          <p:nvPr/>
        </p:nvSpPr>
        <p:spPr>
          <a:xfrm>
            <a:off x="711200" y="5791200"/>
            <a:ext cx="14833600" cy="9144"/>
          </a:xfrm>
          <a:prstGeom prst="line">
            <a:avLst/>
          </a:prstGeom>
          <a:ln w="12700">
            <a:solidFill>
              <a:srgbClr val="E8F0F8"/>
            </a:solidFill>
            <a:prstDash val="solid"/>
          </a:ln>
        </p:spPr>
      </p:sp>
      <p:sp>
        <p:nvSpPr>
          <p:cNvPr id="18" name="objective-row3-label"/>
          <p:cNvSpPr/>
          <p:nvPr/>
        </p:nvSpPr>
        <p:spPr>
          <a:xfrm>
            <a:off x="711200" y="60706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a job</a:t>
            </a:r>
            <a:endParaRPr lang="en-US" sz="1800" dirty="0"/>
          </a:p>
        </p:txBody>
      </p:sp>
      <p:sp>
        <p:nvSpPr>
          <p:cNvPr id="19" name="objective-row3-text"/>
          <p:cNvSpPr/>
          <p:nvPr/>
        </p:nvSpPr>
        <p:spPr>
          <a:xfrm>
            <a:off x="4953000" y="6019800"/>
            <a:ext cx="1016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Exact CV-to-job comparison and ranked matches.</a:t>
            </a:r>
            <a:endParaRPr lang="en-US" sz="1700" dirty="0"/>
          </a:p>
        </p:txBody>
      </p:sp>
      <p:sp>
        <p:nvSpPr>
          <p:cNvPr id="20" name="objective-row3-rule"/>
          <p:cNvSpPr/>
          <p:nvPr/>
        </p:nvSpPr>
        <p:spPr>
          <a:xfrm>
            <a:off x="711200" y="6604000"/>
            <a:ext cx="14833600" cy="9144"/>
          </a:xfrm>
          <a:prstGeom prst="line">
            <a:avLst/>
          </a:prstGeom>
          <a:ln w="12700">
            <a:solidFill>
              <a:srgbClr val="E8F0F8"/>
            </a:solidFill>
            <a:prstDash val="solid"/>
          </a:ln>
        </p:spPr>
      </p:sp>
      <p:sp>
        <p:nvSpPr>
          <p:cNvPr id="21" name="objective-row4-label"/>
          <p:cNvSpPr/>
          <p:nvPr/>
        </p:nvSpPr>
        <p:spPr>
          <a:xfrm>
            <a:off x="711200" y="68834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Close real gaps</a:t>
            </a:r>
            <a:endParaRPr lang="en-US" sz="1800" dirty="0"/>
          </a:p>
        </p:txBody>
      </p:sp>
      <p:sp>
        <p:nvSpPr>
          <p:cNvPr id="22" name="objective-row4-text"/>
          <p:cNvSpPr/>
          <p:nvPr/>
        </p:nvSpPr>
        <p:spPr>
          <a:xfrm>
            <a:off x="4953000" y="6832600"/>
            <a:ext cx="1016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Job-specific coaching based on matched, partial, and missing evidence.</a:t>
            </a:r>
            <a:endParaRPr lang="en-US" sz="1700" dirty="0"/>
          </a:p>
        </p:txBody>
      </p:sp>
      <p:sp>
        <p:nvSpPr>
          <p:cNvPr id="23" name="objective-row4-rule"/>
          <p:cNvSpPr/>
          <p:nvPr/>
        </p:nvSpPr>
        <p:spPr>
          <a:xfrm>
            <a:off x="711200" y="7416800"/>
            <a:ext cx="14833600" cy="9144"/>
          </a:xfrm>
          <a:prstGeom prst="line">
            <a:avLst/>
          </a:prstGeom>
          <a:ln w="12700">
            <a:solidFill>
              <a:srgbClr val="E8F0F8"/>
            </a:solidFill>
            <a:prstDash val="solid"/>
          </a:ln>
        </p:spPr>
      </p:sp>
      <p:sp>
        <p:nvSpPr>
          <p:cNvPr id="24" name="objective-row5-label"/>
          <p:cNvSpPr/>
          <p:nvPr/>
        </p:nvSpPr>
        <p:spPr>
          <a:xfrm>
            <a:off x="711200" y="76962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 follow-up questions</a:t>
            </a:r>
            <a:endParaRPr lang="en-US" sz="1800" dirty="0"/>
          </a:p>
        </p:txBody>
      </p:sp>
      <p:sp>
        <p:nvSpPr>
          <p:cNvPr id="25" name="objective-row5-text"/>
          <p:cNvSpPr/>
          <p:nvPr/>
        </p:nvSpPr>
        <p:spPr>
          <a:xfrm>
            <a:off x="4953000" y="7645400"/>
            <a:ext cx="1016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career advisor with controlled CV and job context.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flow-kicker"/>
          <p:cNvSpPr/>
          <p:nvPr/>
        </p:nvSpPr>
        <p:spPr>
          <a:xfrm>
            <a:off x="711200" y="6096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JOURNEY</a:t>
            </a:r>
            <a:endParaRPr lang="en-US" sz="1400" dirty="0"/>
          </a:p>
        </p:txBody>
      </p:sp>
      <p:sp>
        <p:nvSpPr>
          <p:cNvPr id="3" name="workflow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/ 12</a:t>
            </a:r>
            <a:endParaRPr lang="en-US" sz="1400" dirty="0"/>
          </a:p>
        </p:txBody>
      </p:sp>
      <p:sp>
        <p:nvSpPr>
          <p:cNvPr id="4" name="workflow-title"/>
          <p:cNvSpPr/>
          <p:nvPr/>
        </p:nvSpPr>
        <p:spPr>
          <a:xfrm>
            <a:off x="711200" y="1143000"/>
            <a:ext cx="914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User Workflow I Implemented</a:t>
            </a:r>
            <a:endParaRPr lang="en-US" sz="3600" dirty="0"/>
          </a:p>
        </p:txBody>
      </p:sp>
      <p:sp>
        <p:nvSpPr>
          <p:cNvPr id="5" name="workflow-intro"/>
          <p:cNvSpPr/>
          <p:nvPr/>
        </p:nvSpPr>
        <p:spPr>
          <a:xfrm>
            <a:off x="711200" y="2006600"/>
            <a:ext cx="1422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organized the user journey as a clear sequence, while keeping each step independently useful. This separates CV improvement from job selection instead of forcing an unnecessary prerequisite.</a:t>
            </a:r>
            <a:endParaRPr lang="en-US" sz="1700" dirty="0"/>
          </a:p>
        </p:txBody>
      </p:sp>
      <p:sp>
        <p:nvSpPr>
          <p:cNvPr id="6" name="workflow-rule"/>
          <p:cNvSpPr/>
          <p:nvPr/>
        </p:nvSpPr>
        <p:spPr>
          <a:xfrm>
            <a:off x="711200" y="29972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7" name="workflow-line"/>
          <p:cNvSpPr/>
          <p:nvPr/>
        </p:nvSpPr>
        <p:spPr>
          <a:xfrm>
            <a:off x="1397000" y="4851400"/>
            <a:ext cx="13462000" cy="9144"/>
          </a:xfrm>
          <a:prstGeom prst="line">
            <a:avLst/>
          </a:prstGeom>
          <a:ln w="38100">
            <a:solidFill>
              <a:srgbClr val="36A3FF"/>
            </a:solidFill>
            <a:prstDash val="solid"/>
          </a:ln>
        </p:spPr>
      </p:sp>
      <p:sp>
        <p:nvSpPr>
          <p:cNvPr id="8" name="workflow-dot-1"/>
          <p:cNvSpPr/>
          <p:nvPr/>
        </p:nvSpPr>
        <p:spPr>
          <a:xfrm>
            <a:off x="1219200" y="4673600"/>
            <a:ext cx="355600" cy="3556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9" name="workflow-dot-2"/>
          <p:cNvSpPr/>
          <p:nvPr/>
        </p:nvSpPr>
        <p:spPr>
          <a:xfrm>
            <a:off x="3378200" y="4673600"/>
            <a:ext cx="355600" cy="3556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10" name="workflow-dot-3"/>
          <p:cNvSpPr/>
          <p:nvPr/>
        </p:nvSpPr>
        <p:spPr>
          <a:xfrm>
            <a:off x="5537200" y="4673600"/>
            <a:ext cx="355600" cy="3556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11" name="workflow-dot-4"/>
          <p:cNvSpPr/>
          <p:nvPr/>
        </p:nvSpPr>
        <p:spPr>
          <a:xfrm>
            <a:off x="7696200" y="4673600"/>
            <a:ext cx="355600" cy="3556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12" name="workflow-dot-5"/>
          <p:cNvSpPr/>
          <p:nvPr/>
        </p:nvSpPr>
        <p:spPr>
          <a:xfrm>
            <a:off x="9855200" y="4673600"/>
            <a:ext cx="355600" cy="3556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13" name="workflow-dot-6"/>
          <p:cNvSpPr/>
          <p:nvPr/>
        </p:nvSpPr>
        <p:spPr>
          <a:xfrm>
            <a:off x="12014200" y="4673600"/>
            <a:ext cx="355600" cy="3556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14" name="workflow-dot-7"/>
          <p:cNvSpPr/>
          <p:nvPr/>
        </p:nvSpPr>
        <p:spPr>
          <a:xfrm>
            <a:off x="14173200" y="4673600"/>
            <a:ext cx="355600" cy="3556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15" name="workflow-num-1"/>
          <p:cNvSpPr/>
          <p:nvPr/>
        </p:nvSpPr>
        <p:spPr>
          <a:xfrm>
            <a:off x="1219200" y="47117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workflow-num-2"/>
          <p:cNvSpPr/>
          <p:nvPr/>
        </p:nvSpPr>
        <p:spPr>
          <a:xfrm>
            <a:off x="3378200" y="47117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workflow-num-3"/>
          <p:cNvSpPr/>
          <p:nvPr/>
        </p:nvSpPr>
        <p:spPr>
          <a:xfrm>
            <a:off x="5537200" y="47117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workflow-num-4"/>
          <p:cNvSpPr/>
          <p:nvPr/>
        </p:nvSpPr>
        <p:spPr>
          <a:xfrm>
            <a:off x="7696200" y="47117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workflow-num-5"/>
          <p:cNvSpPr/>
          <p:nvPr/>
        </p:nvSpPr>
        <p:spPr>
          <a:xfrm>
            <a:off x="9855200" y="47117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workflow-num-6"/>
          <p:cNvSpPr/>
          <p:nvPr/>
        </p:nvSpPr>
        <p:spPr>
          <a:xfrm>
            <a:off x="12014200" y="47117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workflow-num-7"/>
          <p:cNvSpPr/>
          <p:nvPr/>
        </p:nvSpPr>
        <p:spPr>
          <a:xfrm>
            <a:off x="14173200" y="47117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1200" dirty="0"/>
          </a:p>
        </p:txBody>
      </p:sp>
      <p:sp>
        <p:nvSpPr>
          <p:cNvPr id="22" name="workflow-step-1"/>
          <p:cNvSpPr/>
          <p:nvPr/>
        </p:nvSpPr>
        <p:spPr>
          <a:xfrm>
            <a:off x="660400" y="36068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CV</a:t>
            </a:r>
            <a:endParaRPr lang="en-US" sz="1700" dirty="0"/>
          </a:p>
        </p:txBody>
      </p:sp>
      <p:sp>
        <p:nvSpPr>
          <p:cNvPr id="23" name="workflow-step-1-sub"/>
          <p:cNvSpPr/>
          <p:nvPr/>
        </p:nvSpPr>
        <p:spPr>
          <a:xfrm>
            <a:off x="533400" y="53086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Accept PDF or DOCX files</a:t>
            </a:r>
            <a:endParaRPr lang="en-US" sz="1300" dirty="0"/>
          </a:p>
        </p:txBody>
      </p:sp>
      <p:sp>
        <p:nvSpPr>
          <p:cNvPr id="24" name="workflow-step-2"/>
          <p:cNvSpPr/>
          <p:nvPr/>
        </p:nvSpPr>
        <p:spPr>
          <a:xfrm>
            <a:off x="2819400" y="53086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&amp; Analyze</a:t>
            </a:r>
            <a:endParaRPr lang="en-US" sz="1700" dirty="0"/>
          </a:p>
        </p:txBody>
      </p:sp>
      <p:sp>
        <p:nvSpPr>
          <p:cNvPr id="25" name="workflow-step-2-sub"/>
          <p:cNvSpPr/>
          <p:nvPr/>
        </p:nvSpPr>
        <p:spPr>
          <a:xfrm>
            <a:off x="2692400" y="36068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 signature, parse text, build data</a:t>
            </a:r>
            <a:endParaRPr lang="en-US" sz="1300" dirty="0"/>
          </a:p>
        </p:txBody>
      </p:sp>
      <p:sp>
        <p:nvSpPr>
          <p:cNvPr id="26" name="workflow-step-3"/>
          <p:cNvSpPr/>
          <p:nvPr/>
        </p:nvSpPr>
        <p:spPr>
          <a:xfrm>
            <a:off x="4978400" y="36068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Data</a:t>
            </a:r>
            <a:endParaRPr lang="en-US" sz="1700" dirty="0"/>
          </a:p>
        </p:txBody>
      </p:sp>
      <p:sp>
        <p:nvSpPr>
          <p:cNvPr id="27" name="workflow-step-3-sub"/>
          <p:cNvSpPr/>
          <p:nvPr/>
        </p:nvSpPr>
        <p:spPr>
          <a:xfrm>
            <a:off x="4851400" y="53086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Score, strengths, and skills</a:t>
            </a:r>
            <a:endParaRPr lang="en-US" sz="1300" dirty="0"/>
          </a:p>
        </p:txBody>
      </p:sp>
      <p:sp>
        <p:nvSpPr>
          <p:cNvPr id="28" name="workflow-step-4"/>
          <p:cNvSpPr/>
          <p:nvPr/>
        </p:nvSpPr>
        <p:spPr>
          <a:xfrm>
            <a:off x="7137400" y="53086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Coaching</a:t>
            </a:r>
            <a:endParaRPr lang="en-US" sz="1700" dirty="0"/>
          </a:p>
        </p:txBody>
      </p:sp>
      <p:sp>
        <p:nvSpPr>
          <p:cNvPr id="29" name="workflow-step-4-sub"/>
          <p:cNvSpPr/>
          <p:nvPr/>
        </p:nvSpPr>
        <p:spPr>
          <a:xfrm>
            <a:off x="7010400" y="36068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Improvements without a job</a:t>
            </a:r>
            <a:endParaRPr lang="en-US" sz="1300" dirty="0"/>
          </a:p>
        </p:txBody>
      </p:sp>
      <p:sp>
        <p:nvSpPr>
          <p:cNvPr id="30" name="workflow-step-5"/>
          <p:cNvSpPr/>
          <p:nvPr/>
        </p:nvSpPr>
        <p:spPr>
          <a:xfrm>
            <a:off x="9296400" y="36068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Matching</a:t>
            </a:r>
            <a:endParaRPr lang="en-US" sz="1700" dirty="0"/>
          </a:p>
        </p:txBody>
      </p:sp>
      <p:sp>
        <p:nvSpPr>
          <p:cNvPr id="31" name="workflow-step-5-sub"/>
          <p:cNvSpPr/>
          <p:nvPr/>
        </p:nvSpPr>
        <p:spPr>
          <a:xfrm>
            <a:off x="9169400" y="53086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explicit evidence</a:t>
            </a:r>
            <a:endParaRPr lang="en-US" sz="1300" dirty="0"/>
          </a:p>
        </p:txBody>
      </p:sp>
      <p:sp>
        <p:nvSpPr>
          <p:cNvPr id="32" name="workflow-step-6"/>
          <p:cNvSpPr/>
          <p:nvPr/>
        </p:nvSpPr>
        <p:spPr>
          <a:xfrm>
            <a:off x="11455400" y="53086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Targeted Coaching</a:t>
            </a:r>
            <a:endParaRPr lang="en-US" sz="1700" dirty="0"/>
          </a:p>
        </p:txBody>
      </p:sp>
      <p:sp>
        <p:nvSpPr>
          <p:cNvPr id="33" name="workflow-step-6-sub"/>
          <p:cNvSpPr/>
          <p:nvPr/>
        </p:nvSpPr>
        <p:spPr>
          <a:xfrm>
            <a:off x="11328400" y="36068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Matched, partial, and missing</a:t>
            </a:r>
            <a:endParaRPr lang="en-US" sz="1300" dirty="0"/>
          </a:p>
        </p:txBody>
      </p:sp>
      <p:sp>
        <p:nvSpPr>
          <p:cNvPr id="34" name="workflow-step-7"/>
          <p:cNvSpPr/>
          <p:nvPr/>
        </p:nvSpPr>
        <p:spPr>
          <a:xfrm>
            <a:off x="13614400" y="36068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Career Advisor</a:t>
            </a:r>
            <a:endParaRPr lang="en-US" sz="1700" dirty="0"/>
          </a:p>
        </p:txBody>
      </p:sp>
      <p:sp>
        <p:nvSpPr>
          <p:cNvPr id="35" name="workflow-step-7-sub"/>
          <p:cNvSpPr/>
          <p:nvPr/>
        </p:nvSpPr>
        <p:spPr>
          <a:xfrm>
            <a:off x="13487400" y="53086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Follow-up questions</a:t>
            </a:r>
            <a:endParaRPr lang="en-US" sz="1300" dirty="0"/>
          </a:p>
        </p:txBody>
      </p:sp>
      <p:sp>
        <p:nvSpPr>
          <p:cNvPr id="36" name="workflow-bottom-rule"/>
          <p:cNvSpPr/>
          <p:nvPr/>
        </p:nvSpPr>
        <p:spPr>
          <a:xfrm>
            <a:off x="711200" y="7112000"/>
            <a:ext cx="14833600" cy="9144"/>
          </a:xfrm>
          <a:prstGeom prst="line">
            <a:avLst/>
          </a:prstGeom>
          <a:ln w="25400">
            <a:solidFill>
              <a:srgbClr val="E8F0F8"/>
            </a:solidFill>
            <a:prstDash val="solid"/>
          </a:ln>
        </p:spPr>
      </p:sp>
      <p:sp>
        <p:nvSpPr>
          <p:cNvPr id="37" name="workflow-bottom"/>
          <p:cNvSpPr/>
          <p:nvPr/>
        </p:nvSpPr>
        <p:spPr>
          <a:xfrm>
            <a:off x="711200" y="74676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stage is useful independently, while selected identity remains explicit for every context-sensitive action.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hitecture-kicker"/>
          <p:cNvSpPr/>
          <p:nvPr/>
        </p:nvSpPr>
        <p:spPr>
          <a:xfrm>
            <a:off x="711200" y="6096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architecture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/ 12</a:t>
            </a:r>
            <a:endParaRPr lang="en-US" sz="1400" dirty="0"/>
          </a:p>
        </p:txBody>
      </p:sp>
      <p:sp>
        <p:nvSpPr>
          <p:cNvPr id="4" name="architecture-title"/>
          <p:cNvSpPr/>
          <p:nvPr/>
        </p:nvSpPr>
        <p:spPr>
          <a:xfrm>
            <a:off x="711200" y="1143000"/>
            <a:ext cx="838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architecture-header-rule"/>
          <p:cNvSpPr/>
          <p:nvPr/>
        </p:nvSpPr>
        <p:spPr>
          <a:xfrm>
            <a:off x="711200" y="20828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6" name="architecture-intro"/>
          <p:cNvSpPr/>
          <p:nvPr/>
        </p:nvSpPr>
        <p:spPr>
          <a:xfrm>
            <a:off x="711200" y="24130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separated the system into layers so each responsibility stays clear and testable.</a:t>
            </a:r>
            <a:endParaRPr lang="en-US" sz="1700" dirty="0"/>
          </a:p>
        </p:txBody>
      </p:sp>
      <p:sp>
        <p:nvSpPr>
          <p:cNvPr id="7" name="architecture-left-rule"/>
          <p:cNvSpPr/>
          <p:nvPr/>
        </p:nvSpPr>
        <p:spPr>
          <a:xfrm>
            <a:off x="711200" y="3429000"/>
            <a:ext cx="50800" cy="3810000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8" name="architecture-layer-1"/>
          <p:cNvSpPr/>
          <p:nvPr/>
        </p:nvSpPr>
        <p:spPr>
          <a:xfrm>
            <a:off x="1041400" y="3505200"/>
            <a:ext cx="5969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architecture-layer-1b"/>
          <p:cNvSpPr/>
          <p:nvPr/>
        </p:nvSpPr>
        <p:spPr>
          <a:xfrm>
            <a:off x="2794000" y="35052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HTML, CSS, and Vanilla JavaScript</a:t>
            </a:r>
            <a:endParaRPr lang="en-US" sz="1600" dirty="0"/>
          </a:p>
        </p:txBody>
      </p:sp>
      <p:sp>
        <p:nvSpPr>
          <p:cNvPr id="10" name="architecture-layer-2"/>
          <p:cNvSpPr/>
          <p:nvPr/>
        </p:nvSpPr>
        <p:spPr>
          <a:xfrm>
            <a:off x="1041400" y="4064000"/>
            <a:ext cx="5969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</a:t>
            </a:r>
            <a:endParaRPr lang="en-US" sz="1800" dirty="0"/>
          </a:p>
        </p:txBody>
      </p:sp>
      <p:sp>
        <p:nvSpPr>
          <p:cNvPr id="11" name="architecture-layer-2b"/>
          <p:cNvSpPr/>
          <p:nvPr/>
        </p:nvSpPr>
        <p:spPr>
          <a:xfrm>
            <a:off x="2794000" y="40640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routers and safe HTTP responses</a:t>
            </a:r>
            <a:endParaRPr lang="en-US" sz="1600" dirty="0"/>
          </a:p>
        </p:txBody>
      </p:sp>
      <p:sp>
        <p:nvSpPr>
          <p:cNvPr id="12" name="architecture-layer-3"/>
          <p:cNvSpPr/>
          <p:nvPr/>
        </p:nvSpPr>
        <p:spPr>
          <a:xfrm>
            <a:off x="1041400" y="4622800"/>
            <a:ext cx="5969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</a:t>
            </a:r>
            <a:endParaRPr lang="en-US" sz="1800" dirty="0"/>
          </a:p>
        </p:txBody>
      </p:sp>
      <p:sp>
        <p:nvSpPr>
          <p:cNvPr id="13" name="architecture-layer-3b"/>
          <p:cNvSpPr/>
          <p:nvPr/>
        </p:nvSpPr>
        <p:spPr>
          <a:xfrm>
            <a:off x="2794000" y="46228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Resume, job, chat, matching, and application logic</a:t>
            </a:r>
            <a:endParaRPr lang="en-US" sz="1600" dirty="0"/>
          </a:p>
        </p:txBody>
      </p:sp>
      <p:sp>
        <p:nvSpPr>
          <p:cNvPr id="14" name="architecture-layer-4"/>
          <p:cNvSpPr/>
          <p:nvPr/>
        </p:nvSpPr>
        <p:spPr>
          <a:xfrm>
            <a:off x="1041400" y="5181600"/>
            <a:ext cx="5969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Agents</a:t>
            </a:r>
            <a:endParaRPr lang="en-US" sz="1800" dirty="0"/>
          </a:p>
        </p:txBody>
      </p:sp>
      <p:sp>
        <p:nvSpPr>
          <p:cNvPr id="15" name="architecture-layer-4b"/>
          <p:cNvSpPr/>
          <p:nvPr/>
        </p:nvSpPr>
        <p:spPr>
          <a:xfrm>
            <a:off x="2794000" y="51816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Supervisor, Resume, Matcher, and Advisor</a:t>
            </a:r>
            <a:endParaRPr lang="en-US" sz="1600" dirty="0"/>
          </a:p>
        </p:txBody>
      </p:sp>
      <p:sp>
        <p:nvSpPr>
          <p:cNvPr id="16" name="architecture-layer-5"/>
          <p:cNvSpPr/>
          <p:nvPr/>
        </p:nvSpPr>
        <p:spPr>
          <a:xfrm>
            <a:off x="1041400" y="5740400"/>
            <a:ext cx="5969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Persistence</a:t>
            </a:r>
            <a:endParaRPr lang="en-US" sz="1800" dirty="0"/>
          </a:p>
        </p:txBody>
      </p:sp>
      <p:sp>
        <p:nvSpPr>
          <p:cNvPr id="17" name="architecture-layer-5b"/>
          <p:cNvSpPr/>
          <p:nvPr/>
        </p:nvSpPr>
        <p:spPr>
          <a:xfrm>
            <a:off x="2794000" y="57404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SQLite models and repositories</a:t>
            </a:r>
            <a:endParaRPr lang="en-US" sz="1600" dirty="0"/>
          </a:p>
        </p:txBody>
      </p:sp>
      <p:sp>
        <p:nvSpPr>
          <p:cNvPr id="18" name="architecture-layer-6"/>
          <p:cNvSpPr/>
          <p:nvPr/>
        </p:nvSpPr>
        <p:spPr>
          <a:xfrm>
            <a:off x="1041400" y="6299200"/>
            <a:ext cx="5969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Knowledge</a:t>
            </a:r>
            <a:endParaRPr lang="en-US" sz="1800" dirty="0"/>
          </a:p>
        </p:txBody>
      </p:sp>
      <p:sp>
        <p:nvSpPr>
          <p:cNvPr id="19" name="architecture-layer-6b"/>
          <p:cNvSpPr/>
          <p:nvPr/>
        </p:nvSpPr>
        <p:spPr>
          <a:xfrm>
            <a:off x="2794000" y="62992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keyword RAG; optional semantic embeddings</a:t>
            </a:r>
            <a:endParaRPr lang="en-US" sz="1600" dirty="0"/>
          </a:p>
        </p:txBody>
      </p:sp>
      <p:sp>
        <p:nvSpPr>
          <p:cNvPr id="20" name="architecture-layer-7"/>
          <p:cNvSpPr/>
          <p:nvPr/>
        </p:nvSpPr>
        <p:spPr>
          <a:xfrm>
            <a:off x="1041400" y="6858000"/>
            <a:ext cx="5969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External Model</a:t>
            </a:r>
            <a:endParaRPr lang="en-US" sz="1800" dirty="0"/>
          </a:p>
        </p:txBody>
      </p:sp>
      <p:sp>
        <p:nvSpPr>
          <p:cNvPr id="21" name="architecture-layer-7b"/>
          <p:cNvSpPr/>
          <p:nvPr/>
        </p:nvSpPr>
        <p:spPr>
          <a:xfrm>
            <a:off x="2794000" y="68580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 Groq and Hugging Face providers</a:t>
            </a:r>
            <a:endParaRPr lang="en-US" sz="1600" dirty="0"/>
          </a:p>
        </p:txBody>
      </p:sp>
      <p:sp>
        <p:nvSpPr>
          <p:cNvPr id="22" name="architecture-node-ui"/>
          <p:cNvSpPr/>
          <p:nvPr/>
        </p:nvSpPr>
        <p:spPr>
          <a:xfrm>
            <a:off x="9194800" y="2463800"/>
            <a:ext cx="4953000" cy="609600"/>
          </a:xfrm>
          <a:prstGeom prst="rect">
            <a:avLst/>
          </a:prstGeom>
          <a:solidFill>
            <a:srgbClr val="112542"/>
          </a:solidFill>
          <a:ln w="12700">
            <a:solidFill>
              <a:srgbClr val="36A3FF"/>
            </a:solidFill>
            <a:prstDash val="solid"/>
          </a:ln>
        </p:spPr>
      </p:sp>
      <p:sp>
        <p:nvSpPr>
          <p:cNvPr id="23" name="architecture-node-ui-text"/>
          <p:cNvSpPr/>
          <p:nvPr/>
        </p:nvSpPr>
        <p:spPr>
          <a:xfrm>
            <a:off x="9194800" y="2628900"/>
            <a:ext cx="495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UI • HTML / CSS / JavaScript</a:t>
            </a:r>
            <a:endParaRPr lang="en-US" sz="1800" dirty="0"/>
          </a:p>
        </p:txBody>
      </p:sp>
      <p:sp>
        <p:nvSpPr>
          <p:cNvPr id="24" name="architecture-node-api"/>
          <p:cNvSpPr/>
          <p:nvPr/>
        </p:nvSpPr>
        <p:spPr>
          <a:xfrm>
            <a:off x="9194800" y="3479800"/>
            <a:ext cx="4953000" cy="609600"/>
          </a:xfrm>
          <a:prstGeom prst="rect">
            <a:avLst/>
          </a:prstGeom>
          <a:solidFill>
            <a:srgbClr val="112542"/>
          </a:solidFill>
          <a:ln w="12700">
            <a:solidFill>
              <a:srgbClr val="36A3FF"/>
            </a:solidFill>
            <a:prstDash val="solid"/>
          </a:ln>
        </p:spPr>
      </p:sp>
      <p:sp>
        <p:nvSpPr>
          <p:cNvPr id="25" name="architecture-node-api-text"/>
          <p:cNvSpPr/>
          <p:nvPr/>
        </p:nvSpPr>
        <p:spPr>
          <a:xfrm>
            <a:off x="9194800" y="3644900"/>
            <a:ext cx="495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Routers + Auth</a:t>
            </a:r>
            <a:endParaRPr lang="en-US" sz="1800" dirty="0"/>
          </a:p>
        </p:txBody>
      </p:sp>
      <p:sp>
        <p:nvSpPr>
          <p:cNvPr id="26" name="architecture-node-services"/>
          <p:cNvSpPr/>
          <p:nvPr/>
        </p:nvSpPr>
        <p:spPr>
          <a:xfrm>
            <a:off x="9194800" y="4495800"/>
            <a:ext cx="4953000" cy="609600"/>
          </a:xfrm>
          <a:prstGeom prst="rect">
            <a:avLst/>
          </a:prstGeom>
          <a:solidFill>
            <a:srgbClr val="112542"/>
          </a:solidFill>
          <a:ln w="12700">
            <a:solidFill>
              <a:srgbClr val="36A3FF"/>
            </a:solidFill>
            <a:prstDash val="solid"/>
          </a:ln>
        </p:spPr>
      </p:sp>
      <p:sp>
        <p:nvSpPr>
          <p:cNvPr id="27" name="architecture-node-services-text"/>
          <p:cNvSpPr/>
          <p:nvPr/>
        </p:nvSpPr>
        <p:spPr>
          <a:xfrm>
            <a:off x="9194800" y="4660900"/>
            <a:ext cx="495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 Services + Validation</a:t>
            </a:r>
            <a:endParaRPr lang="en-US" sz="1800" dirty="0"/>
          </a:p>
        </p:txBody>
      </p:sp>
      <p:sp>
        <p:nvSpPr>
          <p:cNvPr id="28" name="architecture-node-agents"/>
          <p:cNvSpPr/>
          <p:nvPr/>
        </p:nvSpPr>
        <p:spPr>
          <a:xfrm>
            <a:off x="9194800" y="5511800"/>
            <a:ext cx="4953000" cy="609600"/>
          </a:xfrm>
          <a:prstGeom prst="rect">
            <a:avLst/>
          </a:prstGeom>
          <a:solidFill>
            <a:srgbClr val="77E0C3"/>
          </a:solidFill>
          <a:ln w="12700">
            <a:solidFill>
              <a:srgbClr val="77E0C3"/>
            </a:solidFill>
            <a:prstDash val="solid"/>
          </a:ln>
        </p:spPr>
      </p:sp>
      <p:sp>
        <p:nvSpPr>
          <p:cNvPr id="29" name="architecture-node-agents-text"/>
          <p:cNvSpPr/>
          <p:nvPr/>
        </p:nvSpPr>
        <p:spPr>
          <a:xfrm>
            <a:off x="9194800" y="5676900"/>
            <a:ext cx="495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Agents + Evidence Boundaries</a:t>
            </a:r>
            <a:endParaRPr lang="en-US" sz="1800" dirty="0"/>
          </a:p>
        </p:txBody>
      </p:sp>
      <p:sp>
        <p:nvSpPr>
          <p:cNvPr id="30" name="architecture-node-data"/>
          <p:cNvSpPr/>
          <p:nvPr/>
        </p:nvSpPr>
        <p:spPr>
          <a:xfrm>
            <a:off x="9194800" y="6527800"/>
            <a:ext cx="2336800" cy="609600"/>
          </a:xfrm>
          <a:prstGeom prst="rect">
            <a:avLst/>
          </a:prstGeom>
          <a:solidFill>
            <a:srgbClr val="E6EEF6"/>
          </a:solidFill>
          <a:ln w="12700">
            <a:solidFill>
              <a:srgbClr val="36A3FF"/>
            </a:solidFill>
            <a:prstDash val="solid"/>
          </a:ln>
        </p:spPr>
      </p:sp>
      <p:sp>
        <p:nvSpPr>
          <p:cNvPr id="31" name="architecture-node-data-text"/>
          <p:cNvSpPr/>
          <p:nvPr/>
        </p:nvSpPr>
        <p:spPr>
          <a:xfrm>
            <a:off x="9194800" y="6692900"/>
            <a:ext cx="2336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SQLite</a:t>
            </a:r>
            <a:endParaRPr lang="en-US" sz="1700" dirty="0"/>
          </a:p>
        </p:txBody>
      </p:sp>
      <p:sp>
        <p:nvSpPr>
          <p:cNvPr id="32" name="architecture-node-rag"/>
          <p:cNvSpPr/>
          <p:nvPr/>
        </p:nvSpPr>
        <p:spPr>
          <a:xfrm>
            <a:off x="11811000" y="6527800"/>
            <a:ext cx="2336800" cy="609600"/>
          </a:xfrm>
          <a:prstGeom prst="rect">
            <a:avLst/>
          </a:prstGeom>
          <a:solidFill>
            <a:srgbClr val="E6EEF6"/>
          </a:solidFill>
          <a:ln w="12700">
            <a:solidFill>
              <a:srgbClr val="77E0C3"/>
            </a:solidFill>
            <a:prstDash val="solid"/>
          </a:ln>
        </p:spPr>
      </p:sp>
      <p:sp>
        <p:nvSpPr>
          <p:cNvPr id="33" name="architecture-node-rag-text"/>
          <p:cNvSpPr/>
          <p:nvPr/>
        </p:nvSpPr>
        <p:spPr>
          <a:xfrm>
            <a:off x="11811000" y="6692900"/>
            <a:ext cx="2336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RAG</a:t>
            </a:r>
            <a:endParaRPr lang="en-US" sz="1700" dirty="0"/>
          </a:p>
        </p:txBody>
      </p:sp>
      <p:sp>
        <p:nvSpPr>
          <p:cNvPr id="34" name="architecture-node-provider"/>
          <p:cNvSpPr/>
          <p:nvPr/>
        </p:nvSpPr>
        <p:spPr>
          <a:xfrm>
            <a:off x="9194800" y="7543800"/>
            <a:ext cx="4953000" cy="609600"/>
          </a:xfrm>
          <a:prstGeom prst="rect">
            <a:avLst/>
          </a:prstGeom>
          <a:ln w="12700">
            <a:solidFill>
              <a:srgbClr val="5A6E85"/>
            </a:solidFill>
            <a:prstDash val="dash"/>
          </a:ln>
        </p:spPr>
      </p:sp>
      <p:sp>
        <p:nvSpPr>
          <p:cNvPr id="35" name="architecture-node-provider-text"/>
          <p:cNvSpPr/>
          <p:nvPr/>
        </p:nvSpPr>
        <p:spPr>
          <a:xfrm>
            <a:off x="9194800" y="7708900"/>
            <a:ext cx="495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 providers • deterministic fallback</a:t>
            </a:r>
            <a:endParaRPr lang="en-US" sz="1500" dirty="0"/>
          </a:p>
        </p:txBody>
      </p:sp>
      <p:sp>
        <p:nvSpPr>
          <p:cNvPr id="36" name="architecture-link-1"/>
          <p:cNvSpPr/>
          <p:nvPr/>
        </p:nvSpPr>
        <p:spPr>
          <a:xfrm>
            <a:off x="11671300" y="3073400"/>
            <a:ext cx="9144" cy="406400"/>
          </a:xfrm>
          <a:prstGeom prst="line">
            <a:avLst/>
          </a:prstGeom>
          <a:ln w="25400">
            <a:solidFill>
              <a:srgbClr val="36A3FF"/>
            </a:solidFill>
            <a:prstDash val="solid"/>
            <a:tailEnd type="triangle"/>
          </a:ln>
        </p:spPr>
      </p:sp>
      <p:sp>
        <p:nvSpPr>
          <p:cNvPr id="37" name="architecture-link-2"/>
          <p:cNvSpPr/>
          <p:nvPr/>
        </p:nvSpPr>
        <p:spPr>
          <a:xfrm>
            <a:off x="11671300" y="4089400"/>
            <a:ext cx="9144" cy="406400"/>
          </a:xfrm>
          <a:prstGeom prst="line">
            <a:avLst/>
          </a:prstGeom>
          <a:ln w="25400">
            <a:solidFill>
              <a:srgbClr val="36A3FF"/>
            </a:solidFill>
            <a:prstDash val="solid"/>
            <a:tailEnd type="triangle"/>
          </a:ln>
        </p:spPr>
      </p:sp>
      <p:sp>
        <p:nvSpPr>
          <p:cNvPr id="38" name="architecture-link-3"/>
          <p:cNvSpPr/>
          <p:nvPr/>
        </p:nvSpPr>
        <p:spPr>
          <a:xfrm>
            <a:off x="11671300" y="5105400"/>
            <a:ext cx="9144" cy="406400"/>
          </a:xfrm>
          <a:prstGeom prst="line">
            <a:avLst/>
          </a:prstGeom>
          <a:ln w="25400">
            <a:solidFill>
              <a:srgbClr val="77E0C3"/>
            </a:solidFill>
            <a:prstDash val="solid"/>
            <a:tailEnd type="triangle"/>
          </a:ln>
        </p:spPr>
      </p:sp>
      <p:sp>
        <p:nvSpPr>
          <p:cNvPr id="39" name="architecture-link-4"/>
          <p:cNvSpPr/>
          <p:nvPr/>
        </p:nvSpPr>
        <p:spPr>
          <a:xfrm>
            <a:off x="11671300" y="6121400"/>
            <a:ext cx="9144" cy="406400"/>
          </a:xfrm>
          <a:prstGeom prst="line">
            <a:avLst/>
          </a:prstGeom>
          <a:ln w="25400">
            <a:solidFill>
              <a:srgbClr val="77E0C3"/>
            </a:solidFill>
            <a:prstDash val="solid"/>
            <a:tailEnd type="triangle"/>
          </a:ln>
        </p:spPr>
      </p:sp>
      <p:sp>
        <p:nvSpPr>
          <p:cNvPr id="40" name="architecture-link-5"/>
          <p:cNvSpPr/>
          <p:nvPr/>
        </p:nvSpPr>
        <p:spPr>
          <a:xfrm>
            <a:off x="10363200" y="7137400"/>
            <a:ext cx="9144" cy="406400"/>
          </a:xfrm>
          <a:prstGeom prst="line">
            <a:avLst/>
          </a:prstGeom>
          <a:ln w="12700">
            <a:solidFill>
              <a:srgbClr val="5A6E85"/>
            </a:solidFill>
            <a:prstDash val="solid"/>
            <a:tailEnd type="triangle"/>
          </a:ln>
        </p:spPr>
      </p:sp>
      <p:sp>
        <p:nvSpPr>
          <p:cNvPr id="41" name="architecture-link-6"/>
          <p:cNvSpPr/>
          <p:nvPr/>
        </p:nvSpPr>
        <p:spPr>
          <a:xfrm>
            <a:off x="12979400" y="7137400"/>
            <a:ext cx="9144" cy="406400"/>
          </a:xfrm>
          <a:prstGeom prst="line">
            <a:avLst/>
          </a:prstGeom>
          <a:ln w="12700">
            <a:solidFill>
              <a:srgbClr val="5A6E8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peline-kicker"/>
          <p:cNvSpPr/>
          <p:nvPr/>
        </p:nvSpPr>
        <p:spPr>
          <a:xfrm>
            <a:off x="711200" y="6096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ENGINE</a:t>
            </a:r>
            <a:endParaRPr lang="en-US" sz="1400" dirty="0"/>
          </a:p>
        </p:txBody>
      </p:sp>
      <p:sp>
        <p:nvSpPr>
          <p:cNvPr id="3" name="pipeline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 / 12</a:t>
            </a:r>
            <a:endParaRPr lang="en-US" sz="1400" dirty="0"/>
          </a:p>
        </p:txBody>
      </p:sp>
      <p:sp>
        <p:nvSpPr>
          <p:cNvPr id="4" name="pipeline-title"/>
          <p:cNvSpPr/>
          <p:nvPr/>
        </p:nvSpPr>
        <p:spPr>
          <a:xfrm>
            <a:off x="711200" y="11430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CV Upload, Extraction, and Analysis</a:t>
            </a:r>
            <a:endParaRPr lang="en-US" sz="3600" dirty="0"/>
          </a:p>
        </p:txBody>
      </p:sp>
      <p:sp>
        <p:nvSpPr>
          <p:cNvPr id="5" name="pipeline-intro"/>
          <p:cNvSpPr/>
          <p:nvPr/>
        </p:nvSpPr>
        <p:spPr>
          <a:xfrm>
            <a:off x="711200" y="19558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upload pipeline accepts PDF and DOCX files, validates their type and size, and extracts chart-ready structured profile data.</a:t>
            </a:r>
            <a:endParaRPr lang="en-US" sz="1700" dirty="0"/>
          </a:p>
        </p:txBody>
      </p:sp>
      <p:sp>
        <p:nvSpPr>
          <p:cNvPr id="6" name="pipeline-rule"/>
          <p:cNvSpPr/>
          <p:nvPr/>
        </p:nvSpPr>
        <p:spPr>
          <a:xfrm>
            <a:off x="711200" y="26416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7" name="pipeline-col-rule-1"/>
          <p:cNvSpPr/>
          <p:nvPr/>
        </p:nvSpPr>
        <p:spPr>
          <a:xfrm>
            <a:off x="711200" y="2946400"/>
            <a:ext cx="4191000" cy="9144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8" name="pipeline-col-rule-2"/>
          <p:cNvSpPr/>
          <p:nvPr/>
        </p:nvSpPr>
        <p:spPr>
          <a:xfrm>
            <a:off x="5740400" y="2946400"/>
            <a:ext cx="4191000" cy="9144"/>
          </a:xfrm>
          <a:prstGeom prst="line">
            <a:avLst/>
          </a:prstGeom>
          <a:ln w="50800">
            <a:solidFill>
              <a:srgbClr val="36A3FF"/>
            </a:solidFill>
            <a:prstDash val="solid"/>
          </a:ln>
        </p:spPr>
      </p:sp>
      <p:sp>
        <p:nvSpPr>
          <p:cNvPr id="9" name="pipeline-col-rule-3"/>
          <p:cNvSpPr/>
          <p:nvPr/>
        </p:nvSpPr>
        <p:spPr>
          <a:xfrm>
            <a:off x="10769600" y="2946400"/>
            <a:ext cx="4191000" cy="9144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10" name="pipeline-01"/>
          <p:cNvSpPr/>
          <p:nvPr/>
        </p:nvSpPr>
        <p:spPr>
          <a:xfrm>
            <a:off x="711200" y="31496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77E0C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Ingestion</a:t>
            </a:r>
            <a:endParaRPr lang="en-US" sz="2200" dirty="0"/>
          </a:p>
        </p:txBody>
      </p:sp>
      <p:sp>
        <p:nvSpPr>
          <p:cNvPr id="11" name="pipeline-01-sub"/>
          <p:cNvSpPr/>
          <p:nvPr/>
        </p:nvSpPr>
        <p:spPr>
          <a:xfrm>
            <a:off x="711200" y="36322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file entry and text extraction</a:t>
            </a:r>
            <a:endParaRPr lang="en-US" sz="1700" dirty="0"/>
          </a:p>
        </p:txBody>
      </p:sp>
      <p:sp>
        <p:nvSpPr>
          <p:cNvPr id="12" name="pipeline-01-body"/>
          <p:cNvSpPr/>
          <p:nvPr/>
        </p:nvSpPr>
        <p:spPr>
          <a:xfrm>
            <a:off x="711200" y="42926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 and DOCX only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MB maximum size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Extension plus content-signature validation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UUID-based storage and safe parser errors</a:t>
            </a:r>
            <a:endParaRPr lang="en-US" sz="1600" dirty="0"/>
          </a:p>
        </p:txBody>
      </p:sp>
      <p:sp>
        <p:nvSpPr>
          <p:cNvPr id="13" name="pipeline-02"/>
          <p:cNvSpPr/>
          <p:nvPr/>
        </p:nvSpPr>
        <p:spPr>
          <a:xfrm>
            <a:off x="5740400" y="31496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6A3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Structured Extraction</a:t>
            </a:r>
            <a:endParaRPr lang="en-US" sz="2200" dirty="0"/>
          </a:p>
        </p:txBody>
      </p:sp>
      <p:sp>
        <p:nvSpPr>
          <p:cNvPr id="14" name="pipeline-02-sub"/>
          <p:cNvSpPr/>
          <p:nvPr/>
        </p:nvSpPr>
        <p:spPr>
          <a:xfrm>
            <a:off x="5740400" y="36322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raw text into evidence</a:t>
            </a:r>
            <a:endParaRPr lang="en-US" sz="1700" dirty="0"/>
          </a:p>
        </p:txBody>
      </p:sp>
      <p:sp>
        <p:nvSpPr>
          <p:cNvPr id="15" name="pipeline-02-body"/>
          <p:cNvSpPr/>
          <p:nvPr/>
        </p:nvSpPr>
        <p:spPr>
          <a:xfrm>
            <a:off x="5740400" y="42926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 and full name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Skills, education, and experience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Projects, certifications, and languages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Summary, strengths, weaknesses, and improvements</a:t>
            </a:r>
            <a:endParaRPr lang="en-US" sz="1600" dirty="0"/>
          </a:p>
        </p:txBody>
      </p:sp>
      <p:sp>
        <p:nvSpPr>
          <p:cNvPr id="16" name="pipeline-03"/>
          <p:cNvSpPr/>
          <p:nvPr/>
        </p:nvSpPr>
        <p:spPr>
          <a:xfrm>
            <a:off x="10769600" y="31496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77E0C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Deterministic Fallback</a:t>
            </a:r>
            <a:endParaRPr lang="en-US" sz="2200" dirty="0"/>
          </a:p>
        </p:txBody>
      </p:sp>
      <p:sp>
        <p:nvSpPr>
          <p:cNvPr id="17" name="pipeline-03-sub"/>
          <p:cNvSpPr/>
          <p:nvPr/>
        </p:nvSpPr>
        <p:spPr>
          <a:xfrm>
            <a:off x="10769600" y="36322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Stay useful when providers fail</a:t>
            </a:r>
            <a:endParaRPr lang="en-US" sz="1700" dirty="0"/>
          </a:p>
        </p:txBody>
      </p:sp>
      <p:sp>
        <p:nvSpPr>
          <p:cNvPr id="18" name="pipeline-03-body"/>
          <p:cNvSpPr/>
          <p:nvPr/>
        </p:nvSpPr>
        <p:spPr>
          <a:xfrm>
            <a:off x="10769600" y="42926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 model output before acceptance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 missing providers and timeouts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Reject malformed JSON safely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analysis available without external credentials</a:t>
            </a:r>
            <a:endParaRPr lang="en-US" sz="1600" dirty="0"/>
          </a:p>
        </p:txBody>
      </p:sp>
      <p:sp>
        <p:nvSpPr>
          <p:cNvPr id="19" name="pipeline-footer-rule"/>
          <p:cNvSpPr/>
          <p:nvPr/>
        </p:nvSpPr>
        <p:spPr>
          <a:xfrm>
            <a:off x="711200" y="7188200"/>
            <a:ext cx="14833600" cy="9144"/>
          </a:xfrm>
          <a:prstGeom prst="line">
            <a:avLst/>
          </a:prstGeom>
          <a:ln w="25400">
            <a:solidFill>
              <a:srgbClr val="E8F0F8"/>
            </a:solidFill>
            <a:prstDash val="solid"/>
          </a:ln>
        </p:spPr>
      </p:sp>
      <p:sp>
        <p:nvSpPr>
          <p:cNvPr id="20" name="pipeline-footer-accent"/>
          <p:cNvSpPr/>
          <p:nvPr/>
        </p:nvSpPr>
        <p:spPr>
          <a:xfrm>
            <a:off x="711200" y="7594600"/>
            <a:ext cx="50800" cy="660400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21" name="pipeline-footer"/>
          <p:cNvSpPr/>
          <p:nvPr/>
        </p:nvSpPr>
        <p:spPr>
          <a:xfrm>
            <a:off x="1041400" y="7620000"/>
            <a:ext cx="140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Principle: if the model provider is unavailable, the local analyzer remains useful instead of allowing the request to fail silently.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provements-kicker"/>
          <p:cNvSpPr/>
          <p:nvPr/>
        </p:nvSpPr>
        <p:spPr>
          <a:xfrm>
            <a:off x="711200" y="6096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UX &amp; ARCHITECTURE</a:t>
            </a:r>
            <a:endParaRPr lang="en-US" sz="1400" dirty="0"/>
          </a:p>
        </p:txBody>
      </p:sp>
      <p:sp>
        <p:nvSpPr>
          <p:cNvPr id="3" name="improvements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 / 12</a:t>
            </a:r>
            <a:endParaRPr lang="en-US" sz="1400" dirty="0"/>
          </a:p>
        </p:txBody>
      </p:sp>
      <p:sp>
        <p:nvSpPr>
          <p:cNvPr id="4" name="improvements-title"/>
          <p:cNvSpPr/>
          <p:nvPr/>
        </p:nvSpPr>
        <p:spPr>
          <a:xfrm>
            <a:off x="711200" y="1143000"/>
            <a:ext cx="10795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 CV Improvements Without Job Matching</a:t>
            </a:r>
            <a:endParaRPr lang="en-US" sz="3600" dirty="0"/>
          </a:p>
        </p:txBody>
      </p:sp>
      <p:sp>
        <p:nvSpPr>
          <p:cNvPr id="5" name="improvements-intro"/>
          <p:cNvSpPr/>
          <p:nvPr/>
        </p:nvSpPr>
        <p:spPr>
          <a:xfrm>
            <a:off x="711200" y="19558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general improvement flow is an explicit product choice: users can improve a CV before selecting a job.</a:t>
            </a:r>
            <a:endParaRPr lang="en-US" sz="1700" dirty="0"/>
          </a:p>
        </p:txBody>
      </p:sp>
      <p:sp>
        <p:nvSpPr>
          <p:cNvPr id="6" name="improvements-rule"/>
          <p:cNvSpPr/>
          <p:nvPr/>
        </p:nvSpPr>
        <p:spPr>
          <a:xfrm>
            <a:off x="711200" y="26416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7" name="improvements-api"/>
          <p:cNvSpPr/>
          <p:nvPr/>
        </p:nvSpPr>
        <p:spPr>
          <a:xfrm>
            <a:off x="711200" y="3733800"/>
            <a:ext cx="3937000" cy="2413000"/>
          </a:xfrm>
          <a:prstGeom prst="rect">
            <a:avLst/>
          </a:prstGeom>
          <a:solidFill>
            <a:srgbClr val="0D1A2D"/>
          </a:solidFill>
          <a:ln/>
        </p:spPr>
      </p:sp>
      <p:sp>
        <p:nvSpPr>
          <p:cNvPr id="8" name="improvements-api-label"/>
          <p:cNvSpPr/>
          <p:nvPr/>
        </p:nvSpPr>
        <p:spPr>
          <a:xfrm>
            <a:off x="990600" y="40132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CONTRACT</a:t>
            </a:r>
            <a:endParaRPr lang="en-US" sz="1400" dirty="0"/>
          </a:p>
        </p:txBody>
      </p:sp>
      <p:sp>
        <p:nvSpPr>
          <p:cNvPr id="9" name="improvements-api-code"/>
          <p:cNvSpPr/>
          <p:nvPr/>
        </p:nvSpPr>
        <p:spPr>
          <a:xfrm>
            <a:off x="990600" y="4546600"/>
            <a:ext cx="3302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scope: general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job_id: null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recommendations: [...]</a:t>
            </a:r>
            <a:endParaRPr lang="en-US" sz="1700" dirty="0"/>
          </a:p>
        </p:txBody>
      </p:sp>
      <p:sp>
        <p:nvSpPr>
          <p:cNvPr id="10" name="improvements-rule-1"/>
          <p:cNvSpPr/>
          <p:nvPr/>
        </p:nvSpPr>
        <p:spPr>
          <a:xfrm>
            <a:off x="5334000" y="2844800"/>
            <a:ext cx="4445000" cy="9144"/>
          </a:xfrm>
          <a:prstGeom prst="line">
            <a:avLst/>
          </a:prstGeom>
          <a:ln w="50800">
            <a:solidFill>
              <a:srgbClr val="36A3FF"/>
            </a:solidFill>
            <a:prstDash val="solid"/>
          </a:ln>
        </p:spPr>
      </p:sp>
      <p:sp>
        <p:nvSpPr>
          <p:cNvPr id="11" name="improvements-rule-2"/>
          <p:cNvSpPr/>
          <p:nvPr/>
        </p:nvSpPr>
        <p:spPr>
          <a:xfrm>
            <a:off x="10464800" y="2844800"/>
            <a:ext cx="4445000" cy="9144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12" name="improvements-rule-3"/>
          <p:cNvSpPr/>
          <p:nvPr/>
        </p:nvSpPr>
        <p:spPr>
          <a:xfrm>
            <a:off x="5334000" y="5232400"/>
            <a:ext cx="4445000" cy="9144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13" name="improvements-rule-4"/>
          <p:cNvSpPr/>
          <p:nvPr/>
        </p:nvSpPr>
        <p:spPr>
          <a:xfrm>
            <a:off x="10464800" y="5232400"/>
            <a:ext cx="4445000" cy="9144"/>
          </a:xfrm>
          <a:prstGeom prst="line">
            <a:avLst/>
          </a:prstGeom>
          <a:ln w="50800">
            <a:solidFill>
              <a:srgbClr val="36A3FF"/>
            </a:solidFill>
            <a:prstDash val="solid"/>
          </a:ln>
        </p:spPr>
      </p:sp>
      <p:sp>
        <p:nvSpPr>
          <p:cNvPr id="14" name="improvements-cat-1"/>
          <p:cNvSpPr/>
          <p:nvPr/>
        </p:nvSpPr>
        <p:spPr>
          <a:xfrm>
            <a:off x="5334000" y="3048000"/>
            <a:ext cx="444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High-Priority Fixes</a:t>
            </a:r>
            <a:endParaRPr lang="en-US" sz="2100" dirty="0"/>
          </a:p>
        </p:txBody>
      </p:sp>
      <p:sp>
        <p:nvSpPr>
          <p:cNvPr id="15" name="improvements-cat-1b"/>
          <p:cNvSpPr/>
          <p:nvPr/>
        </p:nvSpPr>
        <p:spPr>
          <a:xfrm>
            <a:off x="5334000" y="3632200"/>
            <a:ext cx="444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Rewrite task-heavy bullets, strengthen evidence, and focus the next edits.</a:t>
            </a:r>
            <a:endParaRPr lang="en-US" sz="1600" dirty="0"/>
          </a:p>
        </p:txBody>
      </p:sp>
      <p:sp>
        <p:nvSpPr>
          <p:cNvPr id="16" name="improvements-cat-2"/>
          <p:cNvSpPr/>
          <p:nvPr/>
        </p:nvSpPr>
        <p:spPr>
          <a:xfrm>
            <a:off x="10464800" y="3048000"/>
            <a:ext cx="444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 &amp; Metrics</a:t>
            </a:r>
            <a:endParaRPr lang="en-US" sz="2100" dirty="0"/>
          </a:p>
        </p:txBody>
      </p:sp>
      <p:sp>
        <p:nvSpPr>
          <p:cNvPr id="17" name="improvements-cat-2b"/>
          <p:cNvSpPr/>
          <p:nvPr/>
        </p:nvSpPr>
        <p:spPr>
          <a:xfrm>
            <a:off x="10464800" y="3632200"/>
            <a:ext cx="444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verified scope or outcomes; never invent a number not contained in the CV.</a:t>
            </a:r>
            <a:endParaRPr lang="en-US" sz="1600" dirty="0"/>
          </a:p>
        </p:txBody>
      </p:sp>
      <p:sp>
        <p:nvSpPr>
          <p:cNvPr id="18" name="improvements-cat-3"/>
          <p:cNvSpPr/>
          <p:nvPr/>
        </p:nvSpPr>
        <p:spPr>
          <a:xfrm>
            <a:off x="5334000" y="5435600"/>
            <a:ext cx="444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 &amp; ATS Optimization</a:t>
            </a:r>
            <a:endParaRPr lang="en-US" sz="2100" dirty="0"/>
          </a:p>
        </p:txBody>
      </p:sp>
      <p:sp>
        <p:nvSpPr>
          <p:cNvPr id="19" name="improvements-cat-3b"/>
          <p:cNvSpPr/>
          <p:nvPr/>
        </p:nvSpPr>
        <p:spPr>
          <a:xfrm>
            <a:off x="5334000" y="6019800"/>
            <a:ext cx="444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explicit skill coverage and make relevant requirements easier to find.</a:t>
            </a:r>
            <a:endParaRPr lang="en-US" sz="1600" dirty="0"/>
          </a:p>
        </p:txBody>
      </p:sp>
      <p:sp>
        <p:nvSpPr>
          <p:cNvPr id="20" name="improvements-cat-4"/>
          <p:cNvSpPr/>
          <p:nvPr/>
        </p:nvSpPr>
        <p:spPr>
          <a:xfrm>
            <a:off x="10464800" y="5435600"/>
            <a:ext cx="444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Summary Polish</a:t>
            </a:r>
            <a:endParaRPr lang="en-US" sz="2100" dirty="0"/>
          </a:p>
        </p:txBody>
      </p:sp>
      <p:sp>
        <p:nvSpPr>
          <p:cNvPr id="21" name="improvements-cat-4b"/>
          <p:cNvSpPr/>
          <p:nvPr/>
        </p:nvSpPr>
        <p:spPr>
          <a:xfrm>
            <a:off x="10464800" y="6019800"/>
            <a:ext cx="444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 a concise summary grounded in the candidate’s actual evidence.</a:t>
            </a:r>
            <a:endParaRPr lang="en-US" sz="1600" dirty="0"/>
          </a:p>
        </p:txBody>
      </p:sp>
      <p:sp>
        <p:nvSpPr>
          <p:cNvPr id="22" name="improvements-footer-rule"/>
          <p:cNvSpPr/>
          <p:nvPr/>
        </p:nvSpPr>
        <p:spPr>
          <a:xfrm>
            <a:off x="711200" y="7747000"/>
            <a:ext cx="14833600" cy="9144"/>
          </a:xfrm>
          <a:prstGeom prst="line">
            <a:avLst/>
          </a:prstGeom>
          <a:ln w="25400">
            <a:solidFill>
              <a:srgbClr val="E8F0F8"/>
            </a:solidFill>
            <a:prstDash val="solid"/>
          </a:ln>
        </p:spPr>
      </p:sp>
      <p:sp>
        <p:nvSpPr>
          <p:cNvPr id="23" name="improvements-footer"/>
          <p:cNvSpPr/>
          <p:nvPr/>
        </p:nvSpPr>
        <p:spPr>
          <a:xfrm>
            <a:off x="711200" y="8051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coaching remains useful without a selected job and never fabricates unsupported achievements.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ing-kicker"/>
          <p:cNvSpPr/>
          <p:nvPr/>
        </p:nvSpPr>
        <p:spPr>
          <a:xfrm>
            <a:off x="711200" y="6096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ENGINE</a:t>
            </a:r>
            <a:endParaRPr lang="en-US" sz="1400" dirty="0"/>
          </a:p>
        </p:txBody>
      </p:sp>
      <p:sp>
        <p:nvSpPr>
          <p:cNvPr id="3" name="matching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 / 12</a:t>
            </a:r>
            <a:endParaRPr lang="en-US" sz="1400" dirty="0"/>
          </a:p>
        </p:txBody>
      </p:sp>
      <p:sp>
        <p:nvSpPr>
          <p:cNvPr id="4" name="matching-title"/>
          <p:cNvSpPr/>
          <p:nvPr/>
        </p:nvSpPr>
        <p:spPr>
          <a:xfrm>
            <a:off x="711200" y="11430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Job Matching</a:t>
            </a:r>
            <a:endParaRPr lang="en-US" sz="3600" dirty="0"/>
          </a:p>
        </p:txBody>
      </p:sp>
      <p:sp>
        <p:nvSpPr>
          <p:cNvPr id="5" name="matching-intro"/>
          <p:cNvSpPr/>
          <p:nvPr/>
        </p:nvSpPr>
        <p:spPr>
          <a:xfrm>
            <a:off x="711200" y="19558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matcher compares the selected CV to job postings using controlled evidence rather than generic semantic similarity.</a:t>
            </a:r>
            <a:endParaRPr lang="en-US" sz="1700" dirty="0"/>
          </a:p>
        </p:txBody>
      </p:sp>
      <p:sp>
        <p:nvSpPr>
          <p:cNvPr id="6" name="matching-rule"/>
          <p:cNvSpPr/>
          <p:nvPr/>
        </p:nvSpPr>
        <p:spPr>
          <a:xfrm>
            <a:off x="711200" y="26416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7" name="matching-left-rule"/>
          <p:cNvSpPr/>
          <p:nvPr/>
        </p:nvSpPr>
        <p:spPr>
          <a:xfrm>
            <a:off x="711200" y="2997200"/>
            <a:ext cx="50800" cy="3530600"/>
          </a:xfrm>
          <a:prstGeom prst="line">
            <a:avLst/>
          </a:prstGeom>
          <a:ln w="50800">
            <a:solidFill>
              <a:srgbClr val="36A3FF"/>
            </a:solidFill>
            <a:prstDash val="solid"/>
          </a:ln>
        </p:spPr>
      </p:sp>
      <p:sp>
        <p:nvSpPr>
          <p:cNvPr id="8" name="matching-item-1"/>
          <p:cNvSpPr/>
          <p:nvPr/>
        </p:nvSpPr>
        <p:spPr>
          <a:xfrm>
            <a:off x="1066800" y="3022600"/>
            <a:ext cx="723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  Required skills</a:t>
            </a:r>
            <a:endParaRPr lang="en-US" sz="2000" dirty="0"/>
          </a:p>
        </p:txBody>
      </p:sp>
      <p:sp>
        <p:nvSpPr>
          <p:cNvPr id="9" name="matching-item-1b"/>
          <p:cNvSpPr/>
          <p:nvPr/>
        </p:nvSpPr>
        <p:spPr>
          <a:xfrm>
            <a:off x="1066800" y="3505200"/>
            <a:ext cx="7239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Explicitly supported, partially supported, or missing.</a:t>
            </a:r>
            <a:endParaRPr lang="en-US" sz="1600" dirty="0"/>
          </a:p>
        </p:txBody>
      </p:sp>
      <p:sp>
        <p:nvSpPr>
          <p:cNvPr id="10" name="matching-item-2"/>
          <p:cNvSpPr/>
          <p:nvPr/>
        </p:nvSpPr>
        <p:spPr>
          <a:xfrm>
            <a:off x="1066800" y="4292600"/>
            <a:ext cx="723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  Preferred skills</a:t>
            </a:r>
            <a:endParaRPr lang="en-US" sz="2000" dirty="0"/>
          </a:p>
        </p:txBody>
      </p:sp>
      <p:sp>
        <p:nvSpPr>
          <p:cNvPr id="11" name="matching-item-2b"/>
          <p:cNvSpPr/>
          <p:nvPr/>
        </p:nvSpPr>
        <p:spPr>
          <a:xfrm>
            <a:off x="1066800" y="4775200"/>
            <a:ext cx="7239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Reported separately so optional strengths do not override core requirements.</a:t>
            </a:r>
            <a:endParaRPr lang="en-US" sz="1600" dirty="0"/>
          </a:p>
        </p:txBody>
      </p:sp>
      <p:sp>
        <p:nvSpPr>
          <p:cNvPr id="12" name="matching-item-3"/>
          <p:cNvSpPr/>
          <p:nvPr/>
        </p:nvSpPr>
        <p:spPr>
          <a:xfrm>
            <a:off x="1066800" y="5562600"/>
            <a:ext cx="723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  Experience &amp; education</a:t>
            </a:r>
            <a:endParaRPr lang="en-US" sz="2000" dirty="0"/>
          </a:p>
        </p:txBody>
      </p:sp>
      <p:sp>
        <p:nvSpPr>
          <p:cNvPr id="13" name="matching-item-3b"/>
          <p:cNvSpPr/>
          <p:nvPr/>
        </p:nvSpPr>
        <p:spPr>
          <a:xfrm>
            <a:off x="1066800" y="6045200"/>
            <a:ext cx="7239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Evaluated as requirements with evidence and gaps.</a:t>
            </a:r>
            <a:endParaRPr lang="en-US" sz="1600" dirty="0"/>
          </a:p>
        </p:txBody>
      </p:sp>
      <p:sp>
        <p:nvSpPr>
          <p:cNvPr id="14" name="matching-panel"/>
          <p:cNvSpPr/>
          <p:nvPr/>
        </p:nvSpPr>
        <p:spPr>
          <a:xfrm>
            <a:off x="9652000" y="2921000"/>
            <a:ext cx="5892800" cy="3937000"/>
          </a:xfrm>
          <a:prstGeom prst="rect">
            <a:avLst/>
          </a:prstGeom>
          <a:solidFill>
            <a:srgbClr val="0D1A2D"/>
          </a:solidFill>
          <a:ln/>
        </p:spPr>
      </p:sp>
      <p:sp>
        <p:nvSpPr>
          <p:cNvPr id="15" name="matching-panel-title"/>
          <p:cNvSpPr/>
          <p:nvPr/>
        </p:nvSpPr>
        <p:spPr>
          <a:xfrm>
            <a:off x="10033000" y="32258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Evidence-controlled score</a:t>
            </a:r>
            <a:endParaRPr lang="en-US" sz="2100" dirty="0"/>
          </a:p>
        </p:txBody>
      </p:sp>
      <p:sp>
        <p:nvSpPr>
          <p:cNvPr id="16" name="matching-panel-rule"/>
          <p:cNvSpPr/>
          <p:nvPr/>
        </p:nvSpPr>
        <p:spPr>
          <a:xfrm>
            <a:off x="10033000" y="3835400"/>
            <a:ext cx="5130800" cy="9144"/>
          </a:xfrm>
          <a:prstGeom prst="line">
            <a:avLst/>
          </a:prstGeom>
          <a:ln w="25400">
            <a:solidFill>
              <a:srgbClr val="77E0C3"/>
            </a:solidFill>
            <a:prstDash val="solid"/>
          </a:ln>
        </p:spPr>
      </p:sp>
      <p:sp>
        <p:nvSpPr>
          <p:cNvPr id="17" name="matching-row-1"/>
          <p:cNvSpPr/>
          <p:nvPr/>
        </p:nvSpPr>
        <p:spPr>
          <a:xfrm>
            <a:off x="10033000" y="4114800"/>
            <a:ext cx="5130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Required skills        matched / partial / missing</a:t>
            </a:r>
            <a:endParaRPr lang="en-US" sz="1600" dirty="0"/>
          </a:p>
        </p:txBody>
      </p:sp>
      <p:sp>
        <p:nvSpPr>
          <p:cNvPr id="18" name="matching-row-2"/>
          <p:cNvSpPr/>
          <p:nvPr/>
        </p:nvSpPr>
        <p:spPr>
          <a:xfrm>
            <a:off x="10033000" y="4648200"/>
            <a:ext cx="5130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Preferred skills        separate optional signal</a:t>
            </a:r>
            <a:endParaRPr lang="en-US" sz="1600" dirty="0"/>
          </a:p>
        </p:txBody>
      </p:sp>
      <p:sp>
        <p:nvSpPr>
          <p:cNvPr id="19" name="matching-row-3"/>
          <p:cNvSpPr/>
          <p:nvPr/>
        </p:nvSpPr>
        <p:spPr>
          <a:xfrm>
            <a:off x="10033000" y="5181600"/>
            <a:ext cx="5130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Experience + education  evidence and gaps</a:t>
            </a:r>
            <a:endParaRPr lang="en-US" sz="1600" dirty="0"/>
          </a:p>
        </p:txBody>
      </p:sp>
      <p:sp>
        <p:nvSpPr>
          <p:cNvPr id="20" name="matching-score-rule"/>
          <p:cNvSpPr/>
          <p:nvPr/>
        </p:nvSpPr>
        <p:spPr>
          <a:xfrm>
            <a:off x="10033000" y="5842000"/>
            <a:ext cx="51308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21" name="matching-score"/>
          <p:cNvSpPr/>
          <p:nvPr/>
        </p:nvSpPr>
        <p:spPr>
          <a:xfrm>
            <a:off x="10033000" y="6070600"/>
            <a:ext cx="513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weighted score → ranked matches</a:t>
            </a:r>
            <a:endParaRPr lang="en-US" sz="1700" dirty="0"/>
          </a:p>
        </p:txBody>
      </p:sp>
      <p:sp>
        <p:nvSpPr>
          <p:cNvPr id="22" name="matching-footer-rule"/>
          <p:cNvSpPr/>
          <p:nvPr/>
        </p:nvSpPr>
        <p:spPr>
          <a:xfrm>
            <a:off x="711200" y="7416800"/>
            <a:ext cx="14833600" cy="9144"/>
          </a:xfrm>
          <a:prstGeom prst="line">
            <a:avLst/>
          </a:prstGeom>
          <a:ln w="25400">
            <a:solidFill>
              <a:srgbClr val="E8F0F8"/>
            </a:solidFill>
            <a:prstDash val="solid"/>
          </a:ln>
        </p:spPr>
      </p:sp>
      <p:sp>
        <p:nvSpPr>
          <p:cNvPr id="23" name="matching-footer-label"/>
          <p:cNvSpPr/>
          <p:nvPr/>
        </p:nvSpPr>
        <p:spPr>
          <a:xfrm>
            <a:off x="711200" y="77470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ELIGIBILITY CONTROL</a:t>
            </a:r>
            <a:endParaRPr lang="en-US" sz="1400" dirty="0"/>
          </a:p>
        </p:txBody>
      </p:sp>
      <p:sp>
        <p:nvSpPr>
          <p:cNvPr id="24" name="matching-footer"/>
          <p:cNvSpPr/>
          <p:nvPr/>
        </p:nvSpPr>
        <p:spPr>
          <a:xfrm>
            <a:off x="3098800" y="7696200"/>
            <a:ext cx="1244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Top-three recommendations are displayed; top-five eligibility is recomputed by the backend with ownership, duplicate, and application-limit checks.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aching-kicker"/>
          <p:cNvSpPr/>
          <p:nvPr/>
        </p:nvSpPr>
        <p:spPr>
          <a:xfrm>
            <a:off x="711200" y="6096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 ISOLATION</a:t>
            </a:r>
            <a:endParaRPr lang="en-US" sz="1400" dirty="0"/>
          </a:p>
        </p:txBody>
      </p:sp>
      <p:sp>
        <p:nvSpPr>
          <p:cNvPr id="3" name="coaching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 / 12</a:t>
            </a:r>
            <a:endParaRPr lang="en-US" sz="1400" dirty="0"/>
          </a:p>
        </p:txBody>
      </p:sp>
      <p:sp>
        <p:nvSpPr>
          <p:cNvPr id="4" name="coaching-title"/>
          <p:cNvSpPr/>
          <p:nvPr/>
        </p:nvSpPr>
        <p:spPr>
          <a:xfrm>
            <a:off x="711200" y="11430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Job-Specific Coaching With Exact Context</a:t>
            </a:r>
            <a:endParaRPr lang="en-US" sz="3600" dirty="0"/>
          </a:p>
        </p:txBody>
      </p:sp>
      <p:sp>
        <p:nvSpPr>
          <p:cNvPr id="5" name="coaching-intro"/>
          <p:cNvSpPr/>
          <p:nvPr/>
        </p:nvSpPr>
        <p:spPr>
          <a:xfrm>
            <a:off x="711200" y="19558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designed the job-specific flow to upgrade guidance only when the user explicitly selects a resume and a job.</a:t>
            </a:r>
            <a:endParaRPr lang="en-US" sz="1700" dirty="0"/>
          </a:p>
        </p:txBody>
      </p:sp>
      <p:sp>
        <p:nvSpPr>
          <p:cNvPr id="6" name="coaching-header-rule"/>
          <p:cNvSpPr/>
          <p:nvPr/>
        </p:nvSpPr>
        <p:spPr>
          <a:xfrm>
            <a:off x="711200" y="26416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7" name="coaching-panel-left"/>
          <p:cNvSpPr/>
          <p:nvPr/>
        </p:nvSpPr>
        <p:spPr>
          <a:xfrm>
            <a:off x="711200" y="3175000"/>
            <a:ext cx="6604000" cy="41148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8" name="coaching-panel-right"/>
          <p:cNvSpPr/>
          <p:nvPr/>
        </p:nvSpPr>
        <p:spPr>
          <a:xfrm>
            <a:off x="8305800" y="3175000"/>
            <a:ext cx="6604000" cy="41148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9" name="coaching-rule-left"/>
          <p:cNvSpPr/>
          <p:nvPr/>
        </p:nvSpPr>
        <p:spPr>
          <a:xfrm>
            <a:off x="1041400" y="3505200"/>
            <a:ext cx="5943600" cy="9144"/>
          </a:xfrm>
          <a:prstGeom prst="line">
            <a:avLst/>
          </a:prstGeom>
          <a:ln w="38100">
            <a:solidFill>
              <a:srgbClr val="77E0C3"/>
            </a:solidFill>
            <a:prstDash val="solid"/>
          </a:ln>
        </p:spPr>
      </p:sp>
      <p:sp>
        <p:nvSpPr>
          <p:cNvPr id="10" name="coaching-rule-right"/>
          <p:cNvSpPr/>
          <p:nvPr/>
        </p:nvSpPr>
        <p:spPr>
          <a:xfrm>
            <a:off x="8636000" y="3505200"/>
            <a:ext cx="5943600" cy="9144"/>
          </a:xfrm>
          <a:prstGeom prst="line">
            <a:avLst/>
          </a:prstGeom>
          <a:ln w="38100">
            <a:solidFill>
              <a:srgbClr val="36A3FF"/>
            </a:solidFill>
            <a:prstDash val="solid"/>
          </a:ln>
        </p:spPr>
      </p:sp>
      <p:sp>
        <p:nvSpPr>
          <p:cNvPr id="11" name="coaching-left-label"/>
          <p:cNvSpPr/>
          <p:nvPr/>
        </p:nvSpPr>
        <p:spPr>
          <a:xfrm>
            <a:off x="1041400" y="3733800"/>
            <a:ext cx="59436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 VALIDATION</a:t>
            </a:r>
            <a:endParaRPr lang="en-US" sz="1400" dirty="0"/>
          </a:p>
        </p:txBody>
      </p:sp>
      <p:sp>
        <p:nvSpPr>
          <p:cNvPr id="12" name="coaching-left-triple"/>
          <p:cNvSpPr/>
          <p:nvPr/>
        </p:nvSpPr>
        <p:spPr>
          <a:xfrm>
            <a:off x="1041400" y="4368800"/>
            <a:ext cx="5943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(user_id, resume_id, job_id)</a:t>
            </a:r>
            <a:endParaRPr lang="en-US" sz="2200" dirty="0"/>
          </a:p>
        </p:txBody>
      </p:sp>
      <p:sp>
        <p:nvSpPr>
          <p:cNvPr id="13" name="coaching-left-body"/>
          <p:cNvSpPr/>
          <p:nvPr/>
        </p:nvSpPr>
        <p:spPr>
          <a:xfrm>
            <a:off x="1041400" y="5181600"/>
            <a:ext cx="59436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resume ownership.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the selected job exists.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 the resume-job pair.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Recompute matching for freshness.</a:t>
            </a:r>
            <a:endParaRPr lang="en-US" sz="1600" dirty="0"/>
          </a:p>
        </p:txBody>
      </p:sp>
      <p:sp>
        <p:nvSpPr>
          <p:cNvPr id="14" name="coaching-right-label"/>
          <p:cNvSpPr/>
          <p:nvPr/>
        </p:nvSpPr>
        <p:spPr>
          <a:xfrm>
            <a:off x="8636000" y="3733800"/>
            <a:ext cx="59436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UPGRADED RESPONSE</a:t>
            </a:r>
            <a:endParaRPr lang="en-US" sz="1400" dirty="0"/>
          </a:p>
        </p:txBody>
      </p:sp>
      <p:sp>
        <p:nvSpPr>
          <p:cNvPr id="15" name="coaching-right-code"/>
          <p:cNvSpPr/>
          <p:nvPr/>
        </p:nvSpPr>
        <p:spPr>
          <a:xfrm>
            <a:off x="8636000" y="4368800"/>
            <a:ext cx="59436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scope: job_specific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resume_id: selected resume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job_id: selected job</a:t>
            </a:r>
            <a:endParaRPr lang="en-US" sz="1800" dirty="0"/>
          </a:p>
        </p:txBody>
      </p:sp>
      <p:sp>
        <p:nvSpPr>
          <p:cNvPr id="16" name="coaching-right-body"/>
          <p:cNvSpPr/>
          <p:nvPr/>
        </p:nvSpPr>
        <p:spPr>
          <a:xfrm>
            <a:off x="8636000" y="62484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Guidance uses matched, partially matched, and missing evidence.</a:t>
            </a:r>
            <a:endParaRPr lang="en-US" sz="1600" dirty="0"/>
          </a:p>
        </p:txBody>
      </p:sp>
      <p:sp>
        <p:nvSpPr>
          <p:cNvPr id="17" name="coaching-footer-rule"/>
          <p:cNvSpPr/>
          <p:nvPr/>
        </p:nvSpPr>
        <p:spPr>
          <a:xfrm>
            <a:off x="711200" y="7797800"/>
            <a:ext cx="14833600" cy="9144"/>
          </a:xfrm>
          <a:prstGeom prst="line">
            <a:avLst/>
          </a:prstGeom>
          <a:ln w="25400">
            <a:solidFill>
              <a:srgbClr val="77E0C3"/>
            </a:solidFill>
            <a:prstDash val="solid"/>
          </a:ln>
        </p:spPr>
      </p:sp>
      <p:sp>
        <p:nvSpPr>
          <p:cNvPr id="18" name="coaching-footer"/>
          <p:cNvSpPr/>
          <p:nvPr/>
        </p:nvSpPr>
        <p:spPr>
          <a:xfrm>
            <a:off x="711200" y="80772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selected job provides context, but it cannot force unrelated resume, profile, or unsupported questions into the job route.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lation-kicker"/>
          <p:cNvSpPr/>
          <p:nvPr/>
        </p:nvSpPr>
        <p:spPr>
          <a:xfrm>
            <a:off x="711200" y="6096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 BOUNDARIES</a:t>
            </a:r>
            <a:endParaRPr lang="en-US" sz="1400" dirty="0"/>
          </a:p>
        </p:txBody>
      </p:sp>
      <p:sp>
        <p:nvSpPr>
          <p:cNvPr id="3" name="isolation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12</a:t>
            </a:r>
            <a:endParaRPr lang="en-US" sz="1400" dirty="0"/>
          </a:p>
        </p:txBody>
      </p:sp>
      <p:sp>
        <p:nvSpPr>
          <p:cNvPr id="4" name="isolation-title"/>
          <p:cNvSpPr/>
          <p:nvPr/>
        </p:nvSpPr>
        <p:spPr>
          <a:xfrm>
            <a:off x="711200" y="1143000"/>
            <a:ext cx="1041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and Career Advisor Isolation</a:t>
            </a:r>
            <a:endParaRPr lang="en-US" sz="3600" dirty="0"/>
          </a:p>
        </p:txBody>
      </p:sp>
      <p:sp>
        <p:nvSpPr>
          <p:cNvPr id="5" name="isolation-intro"/>
          <p:cNvSpPr/>
          <p:nvPr/>
        </p:nvSpPr>
        <p:spPr>
          <a:xfrm>
            <a:off x="711200" y="19558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build the advisor as a controlled system instead of serving every question from one generic prompt.</a:t>
            </a:r>
            <a:endParaRPr lang="en-US" sz="1700" dirty="0"/>
          </a:p>
        </p:txBody>
      </p:sp>
      <p:sp>
        <p:nvSpPr>
          <p:cNvPr id="6" name="isolation-rule"/>
          <p:cNvSpPr/>
          <p:nvPr/>
        </p:nvSpPr>
        <p:spPr>
          <a:xfrm>
            <a:off x="711200" y="26416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7" name="isolation-col-q"/>
          <p:cNvSpPr/>
          <p:nvPr/>
        </p:nvSpPr>
        <p:spPr>
          <a:xfrm>
            <a:off x="711200" y="2921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TYPE</a:t>
            </a:r>
            <a:endParaRPr lang="en-US" sz="1400" dirty="0"/>
          </a:p>
        </p:txBody>
      </p:sp>
      <p:sp>
        <p:nvSpPr>
          <p:cNvPr id="8" name="isolation-col-context"/>
          <p:cNvSpPr/>
          <p:nvPr/>
        </p:nvSpPr>
        <p:spPr>
          <a:xfrm>
            <a:off x="4165600" y="29210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CONTROLLED CONTEXT</a:t>
            </a:r>
            <a:endParaRPr lang="en-US" sz="1400" dirty="0"/>
          </a:p>
        </p:txBody>
      </p:sp>
      <p:sp>
        <p:nvSpPr>
          <p:cNvPr id="9" name="isolation-head-rule"/>
          <p:cNvSpPr/>
          <p:nvPr/>
        </p:nvSpPr>
        <p:spPr>
          <a:xfrm>
            <a:off x="711200" y="3276600"/>
            <a:ext cx="8458200" cy="9144"/>
          </a:xfrm>
          <a:prstGeom prst="line">
            <a:avLst/>
          </a:prstGeom>
          <a:ln w="25400">
            <a:solidFill>
              <a:srgbClr val="E8F0F8"/>
            </a:solidFill>
            <a:prstDash val="solid"/>
          </a:ln>
        </p:spPr>
      </p:sp>
      <p:sp>
        <p:nvSpPr>
          <p:cNvPr id="10" name="isolation-q1"/>
          <p:cNvSpPr/>
          <p:nvPr/>
        </p:nvSpPr>
        <p:spPr>
          <a:xfrm>
            <a:off x="711200" y="3530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Profile or CV</a:t>
            </a:r>
            <a:endParaRPr lang="en-US" sz="1600" dirty="0"/>
          </a:p>
        </p:txBody>
      </p:sp>
      <p:sp>
        <p:nvSpPr>
          <p:cNvPr id="11" name="isolation-c1"/>
          <p:cNvSpPr/>
          <p:nvPr/>
        </p:nvSpPr>
        <p:spPr>
          <a:xfrm>
            <a:off x="4165600" y="3530600"/>
            <a:ext cx="500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the selected user and selected CV</a:t>
            </a:r>
            <a:endParaRPr lang="en-US" sz="1600" dirty="0"/>
          </a:p>
        </p:txBody>
      </p:sp>
      <p:sp>
        <p:nvSpPr>
          <p:cNvPr id="12" name="isolation-row1"/>
          <p:cNvSpPr/>
          <p:nvPr/>
        </p:nvSpPr>
        <p:spPr>
          <a:xfrm>
            <a:off x="711200" y="4013200"/>
            <a:ext cx="8458200" cy="9144"/>
          </a:xfrm>
          <a:prstGeom prst="line">
            <a:avLst/>
          </a:prstGeom>
          <a:ln w="12700">
            <a:solidFill>
              <a:srgbClr val="E8F0F8"/>
            </a:solidFill>
            <a:prstDash val="solid"/>
          </a:ln>
        </p:spPr>
      </p:sp>
      <p:sp>
        <p:nvSpPr>
          <p:cNvPr id="13" name="isolation-q2"/>
          <p:cNvSpPr/>
          <p:nvPr/>
        </p:nvSpPr>
        <p:spPr>
          <a:xfrm>
            <a:off x="711200" y="42672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</a:t>
            </a:r>
            <a:endParaRPr lang="en-US" sz="1600" dirty="0"/>
          </a:p>
        </p:txBody>
      </p:sp>
      <p:sp>
        <p:nvSpPr>
          <p:cNvPr id="14" name="isolation-c2"/>
          <p:cNvSpPr/>
          <p:nvPr/>
        </p:nvSpPr>
        <p:spPr>
          <a:xfrm>
            <a:off x="4165600" y="4267200"/>
            <a:ext cx="500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the selected job</a:t>
            </a:r>
            <a:endParaRPr lang="en-US" sz="1600" dirty="0"/>
          </a:p>
        </p:txBody>
      </p:sp>
      <p:sp>
        <p:nvSpPr>
          <p:cNvPr id="15" name="isolation-row2"/>
          <p:cNvSpPr/>
          <p:nvPr/>
        </p:nvSpPr>
        <p:spPr>
          <a:xfrm>
            <a:off x="711200" y="4749800"/>
            <a:ext cx="8458200" cy="9144"/>
          </a:xfrm>
          <a:prstGeom prst="line">
            <a:avLst/>
          </a:prstGeom>
          <a:ln w="12700">
            <a:solidFill>
              <a:srgbClr val="E8F0F8"/>
            </a:solidFill>
            <a:prstDash val="solid"/>
          </a:ln>
        </p:spPr>
      </p:sp>
      <p:sp>
        <p:nvSpPr>
          <p:cNvPr id="16" name="isolation-q3"/>
          <p:cNvSpPr/>
          <p:nvPr/>
        </p:nvSpPr>
        <p:spPr>
          <a:xfrm>
            <a:off x="711200" y="50038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7" name="isolation-c3"/>
          <p:cNvSpPr/>
          <p:nvPr/>
        </p:nvSpPr>
        <p:spPr>
          <a:xfrm>
            <a:off x="4165600" y="5003800"/>
            <a:ext cx="500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the selected CV-job pair</a:t>
            </a:r>
            <a:endParaRPr lang="en-US" sz="1600" dirty="0"/>
          </a:p>
        </p:txBody>
      </p:sp>
      <p:sp>
        <p:nvSpPr>
          <p:cNvPr id="18" name="isolation-row3"/>
          <p:cNvSpPr/>
          <p:nvPr/>
        </p:nvSpPr>
        <p:spPr>
          <a:xfrm>
            <a:off x="711200" y="5486400"/>
            <a:ext cx="8458200" cy="9144"/>
          </a:xfrm>
          <a:prstGeom prst="line">
            <a:avLst/>
          </a:prstGeom>
          <a:ln w="12700">
            <a:solidFill>
              <a:srgbClr val="E8F0F8"/>
            </a:solidFill>
            <a:prstDash val="solid"/>
          </a:ln>
        </p:spPr>
      </p:sp>
      <p:sp>
        <p:nvSpPr>
          <p:cNvPr id="19" name="isolation-q4"/>
          <p:cNvSpPr/>
          <p:nvPr/>
        </p:nvSpPr>
        <p:spPr>
          <a:xfrm>
            <a:off x="711200" y="57404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Career</a:t>
            </a:r>
            <a:endParaRPr lang="en-US" sz="1600" dirty="0"/>
          </a:p>
        </p:txBody>
      </p:sp>
      <p:sp>
        <p:nvSpPr>
          <p:cNvPr id="20" name="isolation-c4"/>
          <p:cNvSpPr/>
          <p:nvPr/>
        </p:nvSpPr>
        <p:spPr>
          <a:xfrm>
            <a:off x="4165600" y="5740400"/>
            <a:ext cx="500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knowledge base and retrieved guidance</a:t>
            </a:r>
            <a:endParaRPr lang="en-US" sz="1600" dirty="0"/>
          </a:p>
        </p:txBody>
      </p:sp>
      <p:sp>
        <p:nvSpPr>
          <p:cNvPr id="21" name="isolation-row4"/>
          <p:cNvSpPr/>
          <p:nvPr/>
        </p:nvSpPr>
        <p:spPr>
          <a:xfrm>
            <a:off x="711200" y="6223000"/>
            <a:ext cx="8458200" cy="9144"/>
          </a:xfrm>
          <a:prstGeom prst="line">
            <a:avLst/>
          </a:prstGeom>
          <a:ln w="12700">
            <a:solidFill>
              <a:srgbClr val="E8F0F8"/>
            </a:solidFill>
            <a:prstDash val="solid"/>
          </a:ln>
        </p:spPr>
      </p:sp>
      <p:sp>
        <p:nvSpPr>
          <p:cNvPr id="22" name="isolation-q5"/>
          <p:cNvSpPr/>
          <p:nvPr/>
        </p:nvSpPr>
        <p:spPr>
          <a:xfrm>
            <a:off x="711200" y="6477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Unsupported</a:t>
            </a:r>
            <a:endParaRPr lang="en-US" sz="1600" dirty="0"/>
          </a:p>
        </p:txBody>
      </p:sp>
      <p:sp>
        <p:nvSpPr>
          <p:cNvPr id="23" name="isolation-c5"/>
          <p:cNvSpPr/>
          <p:nvPr/>
        </p:nvSpPr>
        <p:spPr>
          <a:xfrm>
            <a:off x="4165600" y="6477000"/>
            <a:ext cx="500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clear out-of-scope response</a:t>
            </a:r>
            <a:endParaRPr lang="en-US" sz="1600" dirty="0"/>
          </a:p>
        </p:txBody>
      </p:sp>
      <p:sp>
        <p:nvSpPr>
          <p:cNvPr id="24" name="isolation-boundary"/>
          <p:cNvSpPr/>
          <p:nvPr/>
        </p:nvSpPr>
        <p:spPr>
          <a:xfrm>
            <a:off x="10033000" y="2921000"/>
            <a:ext cx="5511800" cy="1905000"/>
          </a:xfrm>
          <a:prstGeom prst="rect">
            <a:avLst/>
          </a:prstGeom>
          <a:solidFill>
            <a:srgbClr val="E6EEF6"/>
          </a:solidFill>
          <a:ln/>
        </p:spPr>
      </p:sp>
      <p:sp>
        <p:nvSpPr>
          <p:cNvPr id="25" name="isolation-boundary-rule"/>
          <p:cNvSpPr/>
          <p:nvPr/>
        </p:nvSpPr>
        <p:spPr>
          <a:xfrm>
            <a:off x="10312400" y="3200400"/>
            <a:ext cx="50800" cy="1295400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26" name="isolation-boundary-label"/>
          <p:cNvSpPr/>
          <p:nvPr/>
        </p:nvSpPr>
        <p:spPr>
          <a:xfrm>
            <a:off x="10642600" y="3175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BOUNDARY</a:t>
            </a:r>
            <a:endParaRPr lang="en-US" sz="1400" dirty="0"/>
          </a:p>
        </p:txBody>
      </p:sp>
      <p:sp>
        <p:nvSpPr>
          <p:cNvPr id="27" name="isolation-boundary-text"/>
          <p:cNvSpPr/>
          <p:nvPr/>
        </p:nvSpPr>
        <p:spPr>
          <a:xfrm>
            <a:off x="10642600" y="3683000"/>
            <a:ext cx="4445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knowledge base is never proof of a user’s skills or experience.</a:t>
            </a:r>
            <a:endParaRPr lang="en-US" sz="1600" dirty="0"/>
          </a:p>
        </p:txBody>
      </p:sp>
      <p:sp>
        <p:nvSpPr>
          <p:cNvPr id="28" name="isolation-untrusted"/>
          <p:cNvSpPr/>
          <p:nvPr/>
        </p:nvSpPr>
        <p:spPr>
          <a:xfrm>
            <a:off x="10033000" y="5207000"/>
            <a:ext cx="5511800" cy="1905000"/>
          </a:xfrm>
          <a:prstGeom prst="rect">
            <a:avLst/>
          </a:prstGeom>
          <a:solidFill>
            <a:srgbClr val="E6EEF6"/>
          </a:solidFill>
          <a:ln/>
        </p:spPr>
      </p:sp>
      <p:sp>
        <p:nvSpPr>
          <p:cNvPr id="29" name="isolation-untrusted-rule"/>
          <p:cNvSpPr/>
          <p:nvPr/>
        </p:nvSpPr>
        <p:spPr>
          <a:xfrm>
            <a:off x="10312400" y="5486400"/>
            <a:ext cx="50800" cy="1295400"/>
          </a:xfrm>
          <a:prstGeom prst="line">
            <a:avLst/>
          </a:prstGeom>
          <a:ln w="50800">
            <a:solidFill>
              <a:srgbClr val="36A3FF"/>
            </a:solidFill>
            <a:prstDash val="solid"/>
          </a:ln>
        </p:spPr>
      </p:sp>
      <p:sp>
        <p:nvSpPr>
          <p:cNvPr id="30" name="isolation-untrusted-label"/>
          <p:cNvSpPr/>
          <p:nvPr/>
        </p:nvSpPr>
        <p:spPr>
          <a:xfrm>
            <a:off x="10642600" y="5461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UNTRUSTED DATA HANDLING</a:t>
            </a:r>
            <a:endParaRPr lang="en-US" sz="1400" dirty="0"/>
          </a:p>
        </p:txBody>
      </p:sp>
      <p:sp>
        <p:nvSpPr>
          <p:cNvPr id="31" name="isolation-untrusted-text"/>
          <p:cNvSpPr/>
          <p:nvPr/>
        </p:nvSpPr>
        <p:spPr>
          <a:xfrm>
            <a:off x="10642600" y="5969000"/>
            <a:ext cx="4445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Resume, job, retrieved, and history content are data, not instructions.</a:t>
            </a:r>
            <a:endParaRPr lang="en-US" sz="1600" dirty="0"/>
          </a:p>
        </p:txBody>
      </p:sp>
      <p:sp>
        <p:nvSpPr>
          <p:cNvPr id="32" name="isolation-footer-rule"/>
          <p:cNvSpPr/>
          <p:nvPr/>
        </p:nvSpPr>
        <p:spPr>
          <a:xfrm>
            <a:off x="711200" y="7620000"/>
            <a:ext cx="14833600" cy="9144"/>
          </a:xfrm>
          <a:prstGeom prst="line">
            <a:avLst/>
          </a:prstGeom>
          <a:ln w="25400">
            <a:solidFill>
              <a:srgbClr val="E8F0F8"/>
            </a:solidFill>
            <a:prstDash val="solid"/>
          </a:ln>
        </p:spPr>
      </p:sp>
      <p:sp>
        <p:nvSpPr>
          <p:cNvPr id="33" name="isolation-footer"/>
          <p:cNvSpPr/>
          <p:nvPr/>
        </p:nvSpPr>
        <p:spPr>
          <a:xfrm>
            <a:off x="711200" y="79248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repaired comparison route recognizes candidate-skill match and missing-skill questions and returns a grounded required/preferred evidence table.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egrity-kicker"/>
          <p:cNvSpPr/>
          <p:nvPr/>
        </p:nvSpPr>
        <p:spPr>
          <a:xfrm>
            <a:off x="711200" y="6096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INTEGRITY</a:t>
            </a:r>
            <a:endParaRPr lang="en-US" sz="1400" dirty="0"/>
          </a:p>
        </p:txBody>
      </p:sp>
      <p:sp>
        <p:nvSpPr>
          <p:cNvPr id="3" name="integrity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12</a:t>
            </a:r>
            <a:endParaRPr lang="en-US" sz="1400" dirty="0"/>
          </a:p>
        </p:txBody>
      </p:sp>
      <p:sp>
        <p:nvSpPr>
          <p:cNvPr id="4" name="integrity-title"/>
          <p:cNvSpPr/>
          <p:nvPr/>
        </p:nvSpPr>
        <p:spPr>
          <a:xfrm>
            <a:off x="711200" y="11430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Security, Reliability, and Stable UI State</a:t>
            </a:r>
            <a:endParaRPr lang="en-US" sz="3600" dirty="0"/>
          </a:p>
        </p:txBody>
      </p:sp>
      <p:sp>
        <p:nvSpPr>
          <p:cNvPr id="5" name="integrity-intro"/>
          <p:cNvSpPr/>
          <p:nvPr/>
        </p:nvSpPr>
        <p:spPr>
          <a:xfrm>
            <a:off x="711200" y="19558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handled reliability as part of the product behavior, not as an afterthought. The result is a UI that stays understandable while data is loading, changing, or unavailable.</a:t>
            </a:r>
            <a:endParaRPr lang="en-US" sz="1700" dirty="0"/>
          </a:p>
        </p:txBody>
      </p:sp>
      <p:sp>
        <p:nvSpPr>
          <p:cNvPr id="6" name="integrity-rule"/>
          <p:cNvSpPr/>
          <p:nvPr/>
        </p:nvSpPr>
        <p:spPr>
          <a:xfrm>
            <a:off x="711200" y="26416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7" name="integrity-rule-1"/>
          <p:cNvSpPr/>
          <p:nvPr/>
        </p:nvSpPr>
        <p:spPr>
          <a:xfrm>
            <a:off x="711200" y="2921000"/>
            <a:ext cx="4445000" cy="9144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8" name="integrity-rule-2"/>
          <p:cNvSpPr/>
          <p:nvPr/>
        </p:nvSpPr>
        <p:spPr>
          <a:xfrm>
            <a:off x="5892800" y="2921000"/>
            <a:ext cx="4445000" cy="9144"/>
          </a:xfrm>
          <a:prstGeom prst="line">
            <a:avLst/>
          </a:prstGeom>
          <a:ln w="50800">
            <a:solidFill>
              <a:srgbClr val="36A3FF"/>
            </a:solidFill>
            <a:prstDash val="solid"/>
          </a:ln>
        </p:spPr>
      </p:sp>
      <p:sp>
        <p:nvSpPr>
          <p:cNvPr id="9" name="integrity-rule-3"/>
          <p:cNvSpPr/>
          <p:nvPr/>
        </p:nvSpPr>
        <p:spPr>
          <a:xfrm>
            <a:off x="11074400" y="2921000"/>
            <a:ext cx="4445000" cy="9144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10" name="integrity-h-1"/>
          <p:cNvSpPr/>
          <p:nvPr/>
        </p:nvSpPr>
        <p:spPr>
          <a:xfrm>
            <a:off x="711200" y="3175000"/>
            <a:ext cx="444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&amp; Identity</a:t>
            </a:r>
            <a:endParaRPr lang="en-US" sz="2100" dirty="0"/>
          </a:p>
        </p:txBody>
      </p:sp>
      <p:sp>
        <p:nvSpPr>
          <p:cNvPr id="11" name="integrity-b-1"/>
          <p:cNvSpPr/>
          <p:nvPr/>
        </p:nvSpPr>
        <p:spPr>
          <a:xfrm>
            <a:off x="711200" y="3810000"/>
            <a:ext cx="4445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uses a stable required secret.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Passwords are hashed; logout blacklists tokens.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Admin-only job management.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Owner checks and exact IDs on scoped data.</a:t>
            </a:r>
            <a:endParaRPr lang="en-US" sz="1600" dirty="0"/>
          </a:p>
        </p:txBody>
      </p:sp>
      <p:sp>
        <p:nvSpPr>
          <p:cNvPr id="12" name="integrity-h-2"/>
          <p:cNvSpPr/>
          <p:nvPr/>
        </p:nvSpPr>
        <p:spPr>
          <a:xfrm>
            <a:off x="5892800" y="3175000"/>
            <a:ext cx="444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UI State</a:t>
            </a:r>
            <a:endParaRPr lang="en-US" sz="2100" dirty="0"/>
          </a:p>
        </p:txBody>
      </p:sp>
      <p:sp>
        <p:nvSpPr>
          <p:cNvPr id="13" name="integrity-b-2"/>
          <p:cNvSpPr/>
          <p:nvPr/>
        </p:nvSpPr>
        <p:spPr>
          <a:xfrm>
            <a:off x="5892800" y="3810000"/>
            <a:ext cx="4445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server recomputes matching and eligibility.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 switching does not reuse stale job data.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 IDs support diagnosis.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Secrets and documents stay out of logs.</a:t>
            </a:r>
            <a:endParaRPr lang="en-US" sz="1600" dirty="0"/>
          </a:p>
        </p:txBody>
      </p:sp>
      <p:sp>
        <p:nvSpPr>
          <p:cNvPr id="14" name="integrity-h-3"/>
          <p:cNvSpPr/>
          <p:nvPr/>
        </p:nvSpPr>
        <p:spPr>
          <a:xfrm>
            <a:off x="11074400" y="3175000"/>
            <a:ext cx="444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Reliability &amp; Fallback</a:t>
            </a:r>
            <a:endParaRPr lang="en-US" sz="2100" dirty="0"/>
          </a:p>
        </p:txBody>
      </p:sp>
      <p:sp>
        <p:nvSpPr>
          <p:cNvPr id="15" name="integrity-b-3"/>
          <p:cNvSpPr/>
          <p:nvPr/>
        </p:nvSpPr>
        <p:spPr>
          <a:xfrm>
            <a:off x="11074400" y="3810000"/>
            <a:ext cx="4445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Required configuration fails fast.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Malformed signatures are rejected before parsing.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Provider failures return safe responses.</a:t>
            </a:r>
            <a:endParaRPr lang="en-US" sz="1600" dirty="0"/>
          </a:p>
          <a:p>
            <a:pPr algn="l" marL="254000" indent="-254000">
              <a:lnSpc>
                <a:spcPts val="23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6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Semantic mode never mislabels keyword results.</a:t>
            </a:r>
            <a:endParaRPr lang="en-US" sz="1600" dirty="0"/>
          </a:p>
        </p:txBody>
      </p:sp>
      <p:sp>
        <p:nvSpPr>
          <p:cNvPr id="16" name="integrity-footer-rule"/>
          <p:cNvSpPr/>
          <p:nvPr/>
        </p:nvSpPr>
        <p:spPr>
          <a:xfrm>
            <a:off x="711200" y="7188200"/>
            <a:ext cx="14833600" cy="9144"/>
          </a:xfrm>
          <a:prstGeom prst="line">
            <a:avLst/>
          </a:prstGeom>
          <a:ln w="25400">
            <a:solidFill>
              <a:srgbClr val="E8F0F8"/>
            </a:solidFill>
            <a:prstDash val="solid"/>
          </a:ln>
        </p:spPr>
      </p:sp>
      <p:sp>
        <p:nvSpPr>
          <p:cNvPr id="17" name="integrity-footer-label"/>
          <p:cNvSpPr/>
          <p:nvPr/>
        </p:nvSpPr>
        <p:spPr>
          <a:xfrm>
            <a:off x="711200" y="75692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PRINCIPLE</a:t>
            </a:r>
            <a:endParaRPr lang="en-US" sz="1400" dirty="0"/>
          </a:p>
        </p:txBody>
      </p:sp>
      <p:sp>
        <p:nvSpPr>
          <p:cNvPr id="18" name="integrity-footer"/>
          <p:cNvSpPr/>
          <p:nvPr/>
        </p:nvSpPr>
        <p:spPr>
          <a:xfrm>
            <a:off x="3378200" y="7518400"/>
            <a:ext cx="12166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B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interface remains consistent because the backend owns validation, freshness, authorization, and fallback behavior.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lidation-kicker"/>
          <p:cNvSpPr/>
          <p:nvPr/>
        </p:nvSpPr>
        <p:spPr>
          <a:xfrm>
            <a:off x="711200" y="609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&amp; CONCLUSION</a:t>
            </a:r>
            <a:endParaRPr lang="en-US" sz="1400" dirty="0"/>
          </a:p>
        </p:txBody>
      </p:sp>
      <p:sp>
        <p:nvSpPr>
          <p:cNvPr id="3" name="validation-counter"/>
          <p:cNvSpPr/>
          <p:nvPr/>
        </p:nvSpPr>
        <p:spPr>
          <a:xfrm>
            <a:off x="14224000" y="609600"/>
            <a:ext cx="13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12</a:t>
            </a:r>
            <a:endParaRPr lang="en-US" sz="1400" dirty="0"/>
          </a:p>
        </p:txBody>
      </p:sp>
      <p:sp>
        <p:nvSpPr>
          <p:cNvPr id="4" name="validation-title"/>
          <p:cNvSpPr/>
          <p:nvPr/>
        </p:nvSpPr>
        <p:spPr>
          <a:xfrm>
            <a:off x="711200" y="11430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 Results and Final Takeaway</a:t>
            </a:r>
            <a:endParaRPr lang="en-US" sz="3600" dirty="0"/>
          </a:p>
        </p:txBody>
      </p:sp>
      <p:sp>
        <p:nvSpPr>
          <p:cNvPr id="5" name="validation-intro"/>
          <p:cNvSpPr/>
          <p:nvPr/>
        </p:nvSpPr>
        <p:spPr>
          <a:xfrm>
            <a:off x="711200" y="1955800"/>
            <a:ext cx="1422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was validated through deterministic tests, live HTTP flows, authorization checks, and repeated health probes.</a:t>
            </a:r>
            <a:endParaRPr lang="en-US" sz="1700" dirty="0"/>
          </a:p>
        </p:txBody>
      </p:sp>
      <p:sp>
        <p:nvSpPr>
          <p:cNvPr id="6" name="validation-rule"/>
          <p:cNvSpPr/>
          <p:nvPr/>
        </p:nvSpPr>
        <p:spPr>
          <a:xfrm>
            <a:off x="711200" y="26416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7" name="validation-left-rule"/>
          <p:cNvSpPr/>
          <p:nvPr/>
        </p:nvSpPr>
        <p:spPr>
          <a:xfrm>
            <a:off x="711200" y="3098800"/>
            <a:ext cx="50800" cy="3810000"/>
          </a:xfrm>
          <a:prstGeom prst="line">
            <a:avLst/>
          </a:prstGeom>
          <a:ln w="50800">
            <a:solidFill>
              <a:srgbClr val="77E0C3"/>
            </a:solidFill>
            <a:prstDash val="solid"/>
          </a:ln>
        </p:spPr>
      </p:sp>
      <p:sp>
        <p:nvSpPr>
          <p:cNvPr id="8" name="validation-metric-1-label"/>
          <p:cNvSpPr/>
          <p:nvPr/>
        </p:nvSpPr>
        <p:spPr>
          <a:xfrm>
            <a:off x="1066800" y="31242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Functional test suite</a:t>
            </a:r>
            <a:endParaRPr lang="en-US" sz="1700" dirty="0"/>
          </a:p>
        </p:txBody>
      </p:sp>
      <p:sp>
        <p:nvSpPr>
          <p:cNvPr id="9" name="validation-metric-1-value"/>
          <p:cNvSpPr/>
          <p:nvPr/>
        </p:nvSpPr>
        <p:spPr>
          <a:xfrm>
            <a:off x="5918200" y="31242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800" dirty="0">
                <a:solidFill>
                  <a:srgbClr val="77E0C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 passed</a:t>
            </a:r>
            <a:endParaRPr lang="en-US" sz="1800" dirty="0"/>
          </a:p>
        </p:txBody>
      </p:sp>
      <p:sp>
        <p:nvSpPr>
          <p:cNvPr id="10" name="validation-metric-1-rule"/>
          <p:cNvSpPr/>
          <p:nvPr/>
        </p:nvSpPr>
        <p:spPr>
          <a:xfrm>
            <a:off x="1066800" y="3632200"/>
            <a:ext cx="6756400" cy="9144"/>
          </a:xfrm>
          <a:prstGeom prst="line">
            <a:avLst/>
          </a:prstGeom>
          <a:ln w="12700">
            <a:solidFill>
              <a:srgbClr val="112542"/>
            </a:solidFill>
            <a:prstDash val="solid"/>
          </a:ln>
        </p:spPr>
      </p:sp>
      <p:sp>
        <p:nvSpPr>
          <p:cNvPr id="11" name="validation-metric-2-label"/>
          <p:cNvSpPr/>
          <p:nvPr/>
        </p:nvSpPr>
        <p:spPr>
          <a:xfrm>
            <a:off x="1066800" y="38862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 endpoint</a:t>
            </a:r>
            <a:endParaRPr lang="en-US" sz="1700" dirty="0"/>
          </a:p>
        </p:txBody>
      </p:sp>
      <p:sp>
        <p:nvSpPr>
          <p:cNvPr id="12" name="validation-metric-2-value"/>
          <p:cNvSpPr/>
          <p:nvPr/>
        </p:nvSpPr>
        <p:spPr>
          <a:xfrm>
            <a:off x="5918200" y="38862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800" dirty="0">
                <a:solidFill>
                  <a:srgbClr val="77E0C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/ 30</a:t>
            </a:r>
            <a:endParaRPr lang="en-US" sz="1800" dirty="0"/>
          </a:p>
        </p:txBody>
      </p:sp>
      <p:sp>
        <p:nvSpPr>
          <p:cNvPr id="13" name="validation-metric-2-rule"/>
          <p:cNvSpPr/>
          <p:nvPr/>
        </p:nvSpPr>
        <p:spPr>
          <a:xfrm>
            <a:off x="1066800" y="4394200"/>
            <a:ext cx="6756400" cy="9144"/>
          </a:xfrm>
          <a:prstGeom prst="line">
            <a:avLst/>
          </a:prstGeom>
          <a:ln w="12700">
            <a:solidFill>
              <a:srgbClr val="112542"/>
            </a:solidFill>
            <a:prstDash val="solid"/>
          </a:ln>
        </p:spPr>
      </p:sp>
      <p:sp>
        <p:nvSpPr>
          <p:cNvPr id="14" name="validation-metric-3-label"/>
          <p:cNvSpPr/>
          <p:nvPr/>
        </p:nvSpPr>
        <p:spPr>
          <a:xfrm>
            <a:off x="1066800" y="46482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routes</a:t>
            </a:r>
            <a:endParaRPr lang="en-US" sz="1700" dirty="0"/>
          </a:p>
        </p:txBody>
      </p:sp>
      <p:sp>
        <p:nvSpPr>
          <p:cNvPr id="15" name="validation-metric-3-value"/>
          <p:cNvSpPr/>
          <p:nvPr/>
        </p:nvSpPr>
        <p:spPr>
          <a:xfrm>
            <a:off x="5918200" y="46482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+ 8 loaded</a:t>
            </a:r>
            <a:endParaRPr lang="en-US" sz="1800" dirty="0"/>
          </a:p>
        </p:txBody>
      </p:sp>
      <p:sp>
        <p:nvSpPr>
          <p:cNvPr id="16" name="validation-metric-3-rule"/>
          <p:cNvSpPr/>
          <p:nvPr/>
        </p:nvSpPr>
        <p:spPr>
          <a:xfrm>
            <a:off x="1066800" y="5156200"/>
            <a:ext cx="6756400" cy="9144"/>
          </a:xfrm>
          <a:prstGeom prst="line">
            <a:avLst/>
          </a:prstGeom>
          <a:ln w="12700">
            <a:solidFill>
              <a:srgbClr val="112542"/>
            </a:solidFill>
            <a:prstDash val="solid"/>
          </a:ln>
        </p:spPr>
      </p:sp>
      <p:sp>
        <p:nvSpPr>
          <p:cNvPr id="17" name="validation-metric-4-label"/>
          <p:cNvSpPr/>
          <p:nvPr/>
        </p:nvSpPr>
        <p:spPr>
          <a:xfrm>
            <a:off x="1066800" y="54102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authorization and data audit</a:t>
            </a:r>
            <a:endParaRPr lang="en-US" sz="1700" dirty="0"/>
          </a:p>
        </p:txBody>
      </p:sp>
      <p:sp>
        <p:nvSpPr>
          <p:cNvPr id="18" name="validation-metric-4-value"/>
          <p:cNvSpPr/>
          <p:nvPr/>
        </p:nvSpPr>
        <p:spPr>
          <a:xfrm>
            <a:off x="5918200" y="54102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800" dirty="0">
                <a:solidFill>
                  <a:srgbClr val="36A3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</a:t>
            </a:r>
            <a:endParaRPr lang="en-US" sz="1800" dirty="0"/>
          </a:p>
        </p:txBody>
      </p:sp>
      <p:sp>
        <p:nvSpPr>
          <p:cNvPr id="19" name="validation-metric-4-rule"/>
          <p:cNvSpPr/>
          <p:nvPr/>
        </p:nvSpPr>
        <p:spPr>
          <a:xfrm>
            <a:off x="1066800" y="5918200"/>
            <a:ext cx="6756400" cy="9144"/>
          </a:xfrm>
          <a:prstGeom prst="line">
            <a:avLst/>
          </a:prstGeom>
          <a:ln w="12700">
            <a:solidFill>
              <a:srgbClr val="112542"/>
            </a:solidFill>
            <a:prstDash val="solid"/>
          </a:ln>
        </p:spPr>
      </p:sp>
      <p:sp>
        <p:nvSpPr>
          <p:cNvPr id="20" name="validation-metric-5-label"/>
          <p:cNvSpPr/>
          <p:nvPr/>
        </p:nvSpPr>
        <p:spPr>
          <a:xfrm>
            <a:off x="1066800" y="61722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E6EE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User-facing comparison retest</a:t>
            </a:r>
            <a:endParaRPr lang="en-US" sz="1700" dirty="0"/>
          </a:p>
        </p:txBody>
      </p:sp>
      <p:sp>
        <p:nvSpPr>
          <p:cNvPr id="21" name="validation-metric-5-value"/>
          <p:cNvSpPr/>
          <p:nvPr/>
        </p:nvSpPr>
        <p:spPr>
          <a:xfrm>
            <a:off x="5918200" y="61722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800" dirty="0">
                <a:solidFill>
                  <a:srgbClr val="77E0C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</a:t>
            </a:r>
            <a:endParaRPr lang="en-US" sz="1800" dirty="0"/>
          </a:p>
        </p:txBody>
      </p:sp>
      <p:sp>
        <p:nvSpPr>
          <p:cNvPr id="22" name="validation-evidence"/>
          <p:cNvSpPr/>
          <p:nvPr/>
        </p:nvSpPr>
        <p:spPr>
          <a:xfrm>
            <a:off x="8890000" y="3098800"/>
            <a:ext cx="6654800" cy="1879600"/>
          </a:xfrm>
          <a:prstGeom prst="rect">
            <a:avLst/>
          </a:prstGeom>
          <a:solidFill>
            <a:srgbClr val="112542"/>
          </a:solidFill>
          <a:ln/>
        </p:spPr>
      </p:sp>
      <p:sp>
        <p:nvSpPr>
          <p:cNvPr id="23" name="validation-evidence-label"/>
          <p:cNvSpPr/>
          <p:nvPr/>
        </p:nvSpPr>
        <p:spPr>
          <a:xfrm>
            <a:off x="9245600" y="3378200"/>
            <a:ext cx="584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7E0C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REAL-CV EVIDENCE</a:t>
            </a:r>
            <a:endParaRPr lang="en-US" sz="1400" dirty="0"/>
          </a:p>
        </p:txBody>
      </p:sp>
      <p:sp>
        <p:nvSpPr>
          <p:cNvPr id="24" name="validation-evidence-text"/>
          <p:cNvSpPr/>
          <p:nvPr/>
        </p:nvSpPr>
        <p:spPr>
          <a:xfrm>
            <a:off x="9245600" y="38862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Matched and missing skill questions now route to Comparison Agent and return explicit resume evidence versus job requirements.</a:t>
            </a:r>
            <a:endParaRPr lang="en-US" sz="1700" dirty="0"/>
          </a:p>
        </p:txBody>
      </p:sp>
      <p:sp>
        <p:nvSpPr>
          <p:cNvPr id="25" name="validation-takeaway"/>
          <p:cNvSpPr/>
          <p:nvPr/>
        </p:nvSpPr>
        <p:spPr>
          <a:xfrm>
            <a:off x="8890000" y="5410200"/>
            <a:ext cx="6654800" cy="1905000"/>
          </a:xfrm>
          <a:prstGeom prst="rect">
            <a:avLst/>
          </a:prstGeom>
          <a:solidFill>
            <a:srgbClr val="E6EEF6"/>
          </a:solidFill>
          <a:ln/>
        </p:spPr>
      </p:sp>
      <p:sp>
        <p:nvSpPr>
          <p:cNvPr id="26" name="validation-takeaway-label"/>
          <p:cNvSpPr/>
          <p:nvPr/>
        </p:nvSpPr>
        <p:spPr>
          <a:xfrm>
            <a:off x="9245600" y="5689600"/>
            <a:ext cx="584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6A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TAKEAWAY</a:t>
            </a:r>
            <a:endParaRPr lang="en-US" sz="1400" dirty="0"/>
          </a:p>
        </p:txBody>
      </p:sp>
      <p:sp>
        <p:nvSpPr>
          <p:cNvPr id="27" name="validation-takeaway-text"/>
          <p:cNvSpPr/>
          <p:nvPr/>
        </p:nvSpPr>
        <p:spPr>
          <a:xfrm>
            <a:off x="9245600" y="6197600"/>
            <a:ext cx="5842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altLang="en-US" sz="2100" dirty="0">
                <a:solidFill>
                  <a:srgbClr val="0B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uploaded document to evidence-grounded career action — with stable context, explicit permissions, and graceful fallback at every step.</a:t>
            </a:r>
            <a:endParaRPr lang="en-US" sz="2100" dirty="0"/>
          </a:p>
        </p:txBody>
      </p:sp>
      <p:sp>
        <p:nvSpPr>
          <p:cNvPr id="28" name="validation-bottom-rule"/>
          <p:cNvSpPr/>
          <p:nvPr/>
        </p:nvSpPr>
        <p:spPr>
          <a:xfrm>
            <a:off x="711200" y="7899400"/>
            <a:ext cx="14833600" cy="9144"/>
          </a:xfrm>
          <a:prstGeom prst="line">
            <a:avLst/>
          </a:prstGeom>
          <a:ln w="25400">
            <a:solidFill>
              <a:srgbClr val="36A3FF"/>
            </a:solidFill>
            <a:prstDash val="solid"/>
          </a:ln>
        </p:spPr>
      </p:sp>
      <p:sp>
        <p:nvSpPr>
          <p:cNvPr id="29" name="validation-bottom"/>
          <p:cNvSpPr/>
          <p:nvPr/>
        </p:nvSpPr>
        <p:spPr>
          <a:xfrm>
            <a:off x="711200" y="82296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A6E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DOCUMENT TO EVIDENCE-GROUNDED CAREER ACTION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Evidence-Grounded AI Resume Analyzer</dc:title>
  <dc:subject>Building an Evidence-Grounded AI Resume Analyzer</dc:subject>
  <dc:creator>Manus</dc:creator>
  <cp:lastModifiedBy>Manus</cp:lastModifiedBy>
  <cp:revision>1</cp:revision>
  <dcterms:created xsi:type="dcterms:W3CDTF">2026-08-27T21:24:30Z</dcterms:created>
  <dcterms:modified xsi:type="dcterms:W3CDTF">2026-08-27T21:24:30Z</dcterms:modified>
</cp:coreProperties>
</file>